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63" r:id="rId3"/>
    <p:sldId id="256" r:id="rId4"/>
    <p:sldId id="257" r:id="rId5"/>
    <p:sldId id="259" r:id="rId6"/>
    <p:sldId id="260" r:id="rId7"/>
    <p:sldId id="261" r:id="rId8"/>
    <p:sldId id="262" r:id="rId9"/>
    <p:sldId id="258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88" d="100"/>
          <a:sy n="88" d="100"/>
        </p:scale>
        <p:origin x="439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8052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463040" cy="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463040" y="822960"/>
            <a:ext cx="0" cy="45720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1399032" y="1216152"/>
            <a:ext cx="128016" cy="128016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10607040" y="5989320"/>
            <a:ext cx="1554480" cy="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10607040" y="5532120"/>
            <a:ext cx="0" cy="45720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10543032" y="5468112"/>
            <a:ext cx="128016" cy="128016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548640" y="457200"/>
            <a:ext cx="310896" cy="310896"/>
          </a:xfrm>
          <a:prstGeom prst="ellipse">
            <a:avLst/>
          </a:prstGeom>
          <a:solidFill>
            <a:srgbClr val="38BDF8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1005840" y="31089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FPGA HARDWARE RESOURCE DASHBOARD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86968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FPGA HOSPITAL DISPATCHER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69680" y="6035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09 / 09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875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3246120" y="1207008"/>
            <a:ext cx="201168" cy="201168"/>
          </a:xfrm>
          <a:prstGeom prst="ellipse">
            <a:avLst/>
          </a:prstGeom>
          <a:solidFill>
            <a:srgbClr val="22C55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3506486" y="115214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FFFFFF"/>
                </a:solidFill>
                <a:latin typeface="Consolas" pitchFamily="34" charset="0"/>
              </a:rPr>
              <a:t>Occuppied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1207008"/>
            <a:ext cx="201168" cy="201168"/>
          </a:xfrm>
          <a:prstGeom prst="ellipse">
            <a:avLst/>
          </a:prstGeom>
          <a:solidFill>
            <a:srgbClr val="EF444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5056632" y="115214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</a:rPr>
              <a:t>Free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1207008"/>
            <a:ext cx="201168" cy="201168"/>
          </a:xfrm>
          <a:prstGeom prst="ellipse">
            <a:avLst/>
          </a:prstGeom>
          <a:solidFill>
            <a:srgbClr val="F59E0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6611112" y="115214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Fault (F)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909560" y="1207008"/>
            <a:ext cx="201168" cy="201168"/>
          </a:xfrm>
          <a:prstGeom prst="ellipse">
            <a:avLst/>
          </a:prstGeom>
          <a:solidFill>
            <a:srgbClr val="FB7185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8165592" y="115214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Emergency (E)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1627632"/>
            <a:ext cx="3529584" cy="2011680"/>
          </a:xfrm>
          <a:prstGeom prst="rect">
            <a:avLst/>
          </a:prstGeom>
          <a:solidFill>
            <a:srgbClr val="112744"/>
          </a:solidFill>
          <a:ln w="15875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2" name="Shape 20"/>
          <p:cNvSpPr/>
          <p:nvPr/>
        </p:nvSpPr>
        <p:spPr>
          <a:xfrm>
            <a:off x="548640" y="1627632"/>
            <a:ext cx="3529584" cy="457200"/>
          </a:xfrm>
          <a:prstGeom prst="rect">
            <a:avLst/>
          </a:prstGeom>
          <a:solidFill>
            <a:srgbClr val="0E305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731520" y="171907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2212848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Shape 23"/>
          <p:cNvSpPr/>
          <p:nvPr/>
        </p:nvSpPr>
        <p:spPr>
          <a:xfrm>
            <a:off x="731520" y="2167128"/>
            <a:ext cx="329184" cy="329184"/>
          </a:xfrm>
          <a:prstGeom prst="ellipse">
            <a:avLst/>
          </a:prstGeom>
          <a:solidFill>
            <a:srgbClr val="EF4444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Text 24"/>
          <p:cNvSpPr/>
          <p:nvPr/>
        </p:nvSpPr>
        <p:spPr>
          <a:xfrm>
            <a:off x="1115568" y="2176272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72384" y="217627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7240" y="2560320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731520" y="2514600"/>
            <a:ext cx="329184" cy="329184"/>
          </a:xfrm>
          <a:prstGeom prst="ellipse">
            <a:avLst/>
          </a:prstGeom>
          <a:solidFill>
            <a:srgbClr val="EF4444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1115568" y="252374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072384" y="252374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77240" y="2907792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3" name="Shape 31"/>
          <p:cNvSpPr/>
          <p:nvPr/>
        </p:nvSpPr>
        <p:spPr>
          <a:xfrm>
            <a:off x="731520" y="2862072"/>
            <a:ext cx="329184" cy="329184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4" name="Text 32"/>
          <p:cNvSpPr/>
          <p:nvPr/>
        </p:nvSpPr>
        <p:spPr>
          <a:xfrm>
            <a:off x="1115568" y="2871216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3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072384" y="287121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77240" y="3255264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7" name="Shape 35"/>
          <p:cNvSpPr/>
          <p:nvPr/>
        </p:nvSpPr>
        <p:spPr>
          <a:xfrm>
            <a:off x="731520" y="3209544"/>
            <a:ext cx="329184" cy="329184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8" name="Text 36"/>
          <p:cNvSpPr/>
          <p:nvPr/>
        </p:nvSpPr>
        <p:spPr>
          <a:xfrm>
            <a:off x="1115568" y="3218688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4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072384" y="321868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315968" y="1627632"/>
            <a:ext cx="3529584" cy="2011680"/>
          </a:xfrm>
          <a:prstGeom prst="rect">
            <a:avLst/>
          </a:prstGeom>
          <a:solidFill>
            <a:srgbClr val="112744"/>
          </a:solidFill>
          <a:ln w="15875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1" name="Shape 39"/>
          <p:cNvSpPr/>
          <p:nvPr/>
        </p:nvSpPr>
        <p:spPr>
          <a:xfrm>
            <a:off x="4315968" y="1627632"/>
            <a:ext cx="3529584" cy="457200"/>
          </a:xfrm>
          <a:prstGeom prst="rect">
            <a:avLst/>
          </a:prstGeom>
          <a:solidFill>
            <a:srgbClr val="0E305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2" name="Text 40"/>
          <p:cNvSpPr/>
          <p:nvPr/>
        </p:nvSpPr>
        <p:spPr>
          <a:xfrm>
            <a:off x="4498848" y="171907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44568" y="2212848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4" name="Shape 42"/>
          <p:cNvSpPr/>
          <p:nvPr/>
        </p:nvSpPr>
        <p:spPr>
          <a:xfrm>
            <a:off x="4498848" y="2167128"/>
            <a:ext cx="329184" cy="329184"/>
          </a:xfrm>
          <a:prstGeom prst="ellipse">
            <a:avLst/>
          </a:prstGeom>
          <a:solidFill>
            <a:srgbClr val="EF4444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5" name="Text 43"/>
          <p:cNvSpPr/>
          <p:nvPr/>
        </p:nvSpPr>
        <p:spPr>
          <a:xfrm>
            <a:off x="4882896" y="2176272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 1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839712" y="217627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44568" y="2560320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8" name="Shape 46"/>
          <p:cNvSpPr/>
          <p:nvPr/>
        </p:nvSpPr>
        <p:spPr>
          <a:xfrm>
            <a:off x="4498848" y="2514600"/>
            <a:ext cx="329184" cy="329184"/>
          </a:xfrm>
          <a:prstGeom prst="ellipse">
            <a:avLst/>
          </a:prstGeom>
          <a:solidFill>
            <a:srgbClr val="EF4444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9" name="Text 47"/>
          <p:cNvSpPr/>
          <p:nvPr/>
        </p:nvSpPr>
        <p:spPr>
          <a:xfrm>
            <a:off x="4882896" y="252374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 2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839712" y="252374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44568" y="2907792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2" name="Shape 50"/>
          <p:cNvSpPr/>
          <p:nvPr/>
        </p:nvSpPr>
        <p:spPr>
          <a:xfrm>
            <a:off x="4498848" y="2862072"/>
            <a:ext cx="329184" cy="329184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3" name="Text 51"/>
          <p:cNvSpPr/>
          <p:nvPr/>
        </p:nvSpPr>
        <p:spPr>
          <a:xfrm>
            <a:off x="4882896" y="2871216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 3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839712" y="287121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44568" y="3255264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6" name="Shape 54"/>
          <p:cNvSpPr/>
          <p:nvPr/>
        </p:nvSpPr>
        <p:spPr>
          <a:xfrm>
            <a:off x="4498848" y="3209544"/>
            <a:ext cx="329184" cy="329184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7" name="Text 55"/>
          <p:cNvSpPr/>
          <p:nvPr/>
        </p:nvSpPr>
        <p:spPr>
          <a:xfrm>
            <a:off x="4882896" y="3218688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 4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839712" y="321868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083296" y="1627632"/>
            <a:ext cx="3529584" cy="2011680"/>
          </a:xfrm>
          <a:prstGeom prst="rect">
            <a:avLst/>
          </a:prstGeom>
          <a:solidFill>
            <a:srgbClr val="112744"/>
          </a:solidFill>
          <a:ln w="15875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0" name="Shape 58"/>
          <p:cNvSpPr/>
          <p:nvPr/>
        </p:nvSpPr>
        <p:spPr>
          <a:xfrm>
            <a:off x="8083296" y="1627632"/>
            <a:ext cx="3529584" cy="457200"/>
          </a:xfrm>
          <a:prstGeom prst="rect">
            <a:avLst/>
          </a:prstGeom>
          <a:solidFill>
            <a:srgbClr val="0E305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1" name="Text 59"/>
          <p:cNvSpPr/>
          <p:nvPr/>
        </p:nvSpPr>
        <p:spPr>
          <a:xfrm>
            <a:off x="8266176" y="171907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311896" y="2212848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3" name="Shape 61"/>
          <p:cNvSpPr/>
          <p:nvPr/>
        </p:nvSpPr>
        <p:spPr>
          <a:xfrm>
            <a:off x="8266176" y="2167128"/>
            <a:ext cx="329184" cy="329184"/>
          </a:xfrm>
          <a:prstGeom prst="ellipse">
            <a:avLst/>
          </a:prstGeom>
          <a:solidFill>
            <a:srgbClr val="EF4444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4" name="Text 62"/>
          <p:cNvSpPr/>
          <p:nvPr/>
        </p:nvSpPr>
        <p:spPr>
          <a:xfrm>
            <a:off x="8650224" y="2176272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ECG Unit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10607040" y="217627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BUSY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8311896" y="2560320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7" name="Shape 65"/>
          <p:cNvSpPr/>
          <p:nvPr/>
        </p:nvSpPr>
        <p:spPr>
          <a:xfrm>
            <a:off x="8266176" y="2514600"/>
            <a:ext cx="329184" cy="329184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8" name="Text 66"/>
          <p:cNvSpPr/>
          <p:nvPr/>
        </p:nvSpPr>
        <p:spPr>
          <a:xfrm>
            <a:off x="8650224" y="252374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Defib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10607040" y="252374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8311896" y="2907792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1" name="Shape 69"/>
          <p:cNvSpPr/>
          <p:nvPr/>
        </p:nvSpPr>
        <p:spPr>
          <a:xfrm>
            <a:off x="8266176" y="2862072"/>
            <a:ext cx="329184" cy="329184"/>
          </a:xfrm>
          <a:prstGeom prst="ellipse">
            <a:avLst/>
          </a:prstGeom>
          <a:solidFill>
            <a:srgbClr val="EF4444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2" name="Text 70"/>
          <p:cNvSpPr/>
          <p:nvPr/>
        </p:nvSpPr>
        <p:spPr>
          <a:xfrm>
            <a:off x="8650224" y="2871216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Ventilator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10607040" y="287121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BUSY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8311896" y="3255264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5" name="Shape 73"/>
          <p:cNvSpPr/>
          <p:nvPr/>
        </p:nvSpPr>
        <p:spPr>
          <a:xfrm>
            <a:off x="8266176" y="3209544"/>
            <a:ext cx="329184" cy="329184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6" name="Text 74"/>
          <p:cNvSpPr/>
          <p:nvPr/>
        </p:nvSpPr>
        <p:spPr>
          <a:xfrm>
            <a:off x="8650224" y="3218688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10607040" y="321868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548640" y="3749040"/>
            <a:ext cx="5486400" cy="2468880"/>
          </a:xfrm>
          <a:prstGeom prst="rect">
            <a:avLst/>
          </a:prstGeom>
          <a:solidFill>
            <a:srgbClr val="112744"/>
          </a:solidFill>
          <a:ln w="15875">
            <a:solidFill>
              <a:srgbClr val="FB7185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9" name="Shape 77"/>
          <p:cNvSpPr/>
          <p:nvPr/>
        </p:nvSpPr>
        <p:spPr>
          <a:xfrm>
            <a:off x="548640" y="3749040"/>
            <a:ext cx="5486400" cy="457200"/>
          </a:xfrm>
          <a:prstGeom prst="rect">
            <a:avLst/>
          </a:prstGeom>
          <a:solidFill>
            <a:srgbClr val="3B0F1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0" name="Text 78"/>
          <p:cNvSpPr/>
          <p:nvPr/>
        </p:nvSpPr>
        <p:spPr>
          <a:xfrm>
            <a:off x="731520" y="38404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ALERTS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731520" y="4352544"/>
            <a:ext cx="5120640" cy="457200"/>
          </a:xfrm>
          <a:prstGeom prst="rect">
            <a:avLst/>
          </a:prstGeom>
          <a:solidFill>
            <a:srgbClr val="2A0D16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2" name="Shape 80"/>
          <p:cNvSpPr/>
          <p:nvPr/>
        </p:nvSpPr>
        <p:spPr>
          <a:xfrm>
            <a:off x="896112" y="4471416"/>
            <a:ext cx="219456" cy="219456"/>
          </a:xfrm>
          <a:prstGeom prst="ellipse">
            <a:avLst/>
          </a:prstGeom>
          <a:solidFill>
            <a:srgbClr val="FB7185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3" name="Text 81"/>
          <p:cNvSpPr/>
          <p:nvPr/>
        </p:nvSpPr>
        <p:spPr>
          <a:xfrm>
            <a:off x="1234440" y="43525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7 — Heart Attack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297680" y="43525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731520" y="4919472"/>
            <a:ext cx="5120640" cy="457200"/>
          </a:xfrm>
          <a:prstGeom prst="rect">
            <a:avLst/>
          </a:prstGeom>
          <a:solidFill>
            <a:srgbClr val="2A0D16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6" name="Shape 84"/>
          <p:cNvSpPr/>
          <p:nvPr/>
        </p:nvSpPr>
        <p:spPr>
          <a:xfrm>
            <a:off x="896112" y="5038344"/>
            <a:ext cx="219456" cy="219456"/>
          </a:xfrm>
          <a:prstGeom prst="ellipse">
            <a:avLst/>
          </a:prstGeom>
          <a:solidFill>
            <a:srgbClr val="FB7185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7" name="Text 85"/>
          <p:cNvSpPr/>
          <p:nvPr/>
        </p:nvSpPr>
        <p:spPr>
          <a:xfrm>
            <a:off x="1234440" y="49194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 active (BTNR)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4297680" y="49194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EMERGENCY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731520" y="5486400"/>
            <a:ext cx="5120640" cy="457200"/>
          </a:xfrm>
          <a:prstGeom prst="rect">
            <a:avLst/>
          </a:prstGeom>
          <a:solidFill>
            <a:srgbClr val="2A0D16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0" name="Shape 88"/>
          <p:cNvSpPr/>
          <p:nvPr/>
        </p:nvSpPr>
        <p:spPr>
          <a:xfrm>
            <a:off x="896112" y="5605272"/>
            <a:ext cx="219456" cy="219456"/>
          </a:xfrm>
          <a:prstGeom prst="ellipse">
            <a:avLst/>
          </a:prstGeom>
          <a:solidFill>
            <a:srgbClr val="EF444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1" name="Text 89"/>
          <p:cNvSpPr/>
          <p:nvPr/>
        </p:nvSpPr>
        <p:spPr>
          <a:xfrm>
            <a:off x="1234440" y="5486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LED12 critical flag</a:t>
            </a:r>
            <a:endParaRPr lang="en-US" sz="1050" dirty="0"/>
          </a:p>
        </p:txBody>
      </p:sp>
      <p:sp>
        <p:nvSpPr>
          <p:cNvPr id="92" name="Text 90"/>
          <p:cNvSpPr/>
          <p:nvPr/>
        </p:nvSpPr>
        <p:spPr>
          <a:xfrm>
            <a:off x="4297680" y="54864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6263640" y="3749040"/>
            <a:ext cx="5349240" cy="2468880"/>
          </a:xfrm>
          <a:prstGeom prst="rect">
            <a:avLst/>
          </a:prstGeom>
          <a:solidFill>
            <a:srgbClr val="112744"/>
          </a:solidFill>
          <a:ln w="15875">
            <a:solidFill>
              <a:srgbClr val="FBBF24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4" name="Shape 92"/>
          <p:cNvSpPr/>
          <p:nvPr/>
        </p:nvSpPr>
        <p:spPr>
          <a:xfrm>
            <a:off x="6263640" y="3749040"/>
            <a:ext cx="5349240" cy="457200"/>
          </a:xfrm>
          <a:prstGeom prst="rect">
            <a:avLst/>
          </a:prstGeom>
          <a:solidFill>
            <a:srgbClr val="2E241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5" name="Text 93"/>
          <p:cNvSpPr/>
          <p:nvPr/>
        </p:nvSpPr>
        <p:spPr>
          <a:xfrm>
            <a:off x="6446520" y="3840480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TREATMENT STATUS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6446520" y="4389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1</a:t>
            </a:r>
            <a:endParaRPr lang="en-US" sz="1050" dirty="0"/>
          </a:p>
        </p:txBody>
      </p:sp>
      <p:sp>
        <p:nvSpPr>
          <p:cNvPr id="97" name="Text 95"/>
          <p:cNvSpPr/>
          <p:nvPr/>
        </p:nvSpPr>
        <p:spPr>
          <a:xfrm>
            <a:off x="7772400" y="4389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9509760" y="4480560"/>
            <a:ext cx="1920240" cy="182880"/>
          </a:xfrm>
          <a:prstGeom prst="rect">
            <a:avLst/>
          </a:prstGeom>
          <a:solidFill>
            <a:srgbClr val="1B2A40"/>
          </a:solidFill>
          <a:ln w="9525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9" name="Shape 97"/>
          <p:cNvSpPr/>
          <p:nvPr/>
        </p:nvSpPr>
        <p:spPr>
          <a:xfrm>
            <a:off x="9509760" y="4480560"/>
            <a:ext cx="1382573" cy="1828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0" name="Text 98"/>
          <p:cNvSpPr/>
          <p:nvPr/>
        </p:nvSpPr>
        <p:spPr>
          <a:xfrm>
            <a:off x="6446520" y="4937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2</a:t>
            </a:r>
            <a:endParaRPr lang="en-US" sz="1050" dirty="0"/>
          </a:p>
        </p:txBody>
      </p:sp>
      <p:sp>
        <p:nvSpPr>
          <p:cNvPr id="101" name="Text 99"/>
          <p:cNvSpPr/>
          <p:nvPr/>
        </p:nvSpPr>
        <p:spPr>
          <a:xfrm>
            <a:off x="7772400" y="4937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9509760" y="5029200"/>
            <a:ext cx="1920240" cy="182880"/>
          </a:xfrm>
          <a:prstGeom prst="rect">
            <a:avLst/>
          </a:prstGeom>
          <a:solidFill>
            <a:srgbClr val="1B2A40"/>
          </a:solidFill>
          <a:ln w="9525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3" name="Shape 101"/>
          <p:cNvSpPr/>
          <p:nvPr/>
        </p:nvSpPr>
        <p:spPr>
          <a:xfrm>
            <a:off x="9509760" y="5029200"/>
            <a:ext cx="768096" cy="1828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4" name="Text 102"/>
          <p:cNvSpPr/>
          <p:nvPr/>
        </p:nvSpPr>
        <p:spPr>
          <a:xfrm>
            <a:off x="6446520" y="5486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7</a:t>
            </a:r>
            <a:endParaRPr lang="en-US" sz="1050" dirty="0"/>
          </a:p>
        </p:txBody>
      </p:sp>
      <p:sp>
        <p:nvSpPr>
          <p:cNvPr id="105" name="Text 103"/>
          <p:cNvSpPr/>
          <p:nvPr/>
        </p:nvSpPr>
        <p:spPr>
          <a:xfrm>
            <a:off x="7772400" y="5486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Care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9509760" y="5577840"/>
            <a:ext cx="1920240" cy="182880"/>
          </a:xfrm>
          <a:prstGeom prst="rect">
            <a:avLst/>
          </a:prstGeom>
          <a:solidFill>
            <a:srgbClr val="1B2A40"/>
          </a:solidFill>
          <a:ln w="9525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7" name="Shape 105"/>
          <p:cNvSpPr/>
          <p:nvPr/>
        </p:nvSpPr>
        <p:spPr>
          <a:xfrm>
            <a:off x="9509760" y="5577840"/>
            <a:ext cx="1728216" cy="182880"/>
          </a:xfrm>
          <a:prstGeom prst="rect">
            <a:avLst/>
          </a:prstGeom>
          <a:solidFill>
            <a:srgbClr val="FB718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8" name="Text 106"/>
          <p:cNvSpPr/>
          <p:nvPr/>
        </p:nvSpPr>
        <p:spPr>
          <a:xfrm>
            <a:off x="6263640" y="5833872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LED telemetry — green free · red busy · amber fault · pink emergency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Verilog FSM · Nexys FPGA · Patient Dispatch Controller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10881360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9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463040" cy="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463040" y="822960"/>
            <a:ext cx="0" cy="45720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1399032" y="1216152"/>
            <a:ext cx="128016" cy="128016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10607040" y="5989320"/>
            <a:ext cx="1554480" cy="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10607040" y="5532120"/>
            <a:ext cx="0" cy="45720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10543032" y="5468112"/>
            <a:ext cx="128016" cy="128016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548640" y="457200"/>
            <a:ext cx="310896" cy="310896"/>
          </a:xfrm>
          <a:prstGeom prst="ellipse">
            <a:avLst/>
          </a:prstGeom>
          <a:solidFill>
            <a:srgbClr val="38BDF8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1005840" y="31089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FPGA DISPATCHER STATE MACHINE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86968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FPGA HOSPITAL DISPATCHER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69680" y="6035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08 / 09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875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each state in sequence using PowerPoint Morph — the FSM loops back to IDLE.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1828800"/>
            <a:ext cx="1993392" cy="1371600"/>
          </a:xfrm>
          <a:prstGeom prst="rect">
            <a:avLst/>
          </a:prstGeom>
          <a:solidFill>
            <a:srgbClr val="0E3050"/>
          </a:solidFill>
          <a:ln w="25400">
            <a:solidFill>
              <a:srgbClr val="FBBF24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694944" y="1975104"/>
            <a:ext cx="420624" cy="42062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694944" y="1975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239572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560320" y="2514600"/>
            <a:ext cx="237744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2816352" y="1828800"/>
            <a:ext cx="1993392" cy="1371600"/>
          </a:xfrm>
          <a:prstGeom prst="rect">
            <a:avLst/>
          </a:prstGeom>
          <a:solidFill>
            <a:srgbClr val="112744"/>
          </a:solidFill>
          <a:ln w="15875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2962656" y="1975104"/>
            <a:ext cx="420624" cy="420624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2962656" y="1975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07792" y="239572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 PATIENT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28032" y="2514600"/>
            <a:ext cx="237744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24" name="Shape 22"/>
          <p:cNvSpPr/>
          <p:nvPr/>
        </p:nvSpPr>
        <p:spPr>
          <a:xfrm>
            <a:off x="5084064" y="1828800"/>
            <a:ext cx="1993392" cy="1371600"/>
          </a:xfrm>
          <a:prstGeom prst="rect">
            <a:avLst/>
          </a:prstGeom>
          <a:solidFill>
            <a:srgbClr val="112744"/>
          </a:solidFill>
          <a:ln w="15875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5" name="Shape 23"/>
          <p:cNvSpPr/>
          <p:nvPr/>
        </p:nvSpPr>
        <p:spPr>
          <a:xfrm>
            <a:off x="5230368" y="1975104"/>
            <a:ext cx="420624" cy="420624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Text 24"/>
          <p:cNvSpPr/>
          <p:nvPr/>
        </p:nvSpPr>
        <p:spPr>
          <a:xfrm>
            <a:off x="5230368" y="1975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75504" y="239572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TRIAGE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095744" y="2514600"/>
            <a:ext cx="237744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7351776" y="1828800"/>
            <a:ext cx="1993392" cy="1371600"/>
          </a:xfrm>
          <a:prstGeom prst="rect">
            <a:avLst/>
          </a:prstGeom>
          <a:solidFill>
            <a:srgbClr val="112744"/>
          </a:solidFill>
          <a:ln w="15875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0" name="Shape 28"/>
          <p:cNvSpPr/>
          <p:nvPr/>
        </p:nvSpPr>
        <p:spPr>
          <a:xfrm>
            <a:off x="7498080" y="1975104"/>
            <a:ext cx="420624" cy="420624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1" name="Text 29"/>
          <p:cNvSpPr/>
          <p:nvPr/>
        </p:nvSpPr>
        <p:spPr>
          <a:xfrm>
            <a:off x="7498080" y="1975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43216" y="239572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RESOURCES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363456" y="2514600"/>
            <a:ext cx="237744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34" name="Shape 32"/>
          <p:cNvSpPr/>
          <p:nvPr/>
        </p:nvSpPr>
        <p:spPr>
          <a:xfrm>
            <a:off x="9619488" y="1828800"/>
            <a:ext cx="1993392" cy="1371600"/>
          </a:xfrm>
          <a:prstGeom prst="rect">
            <a:avLst/>
          </a:prstGeom>
          <a:solidFill>
            <a:srgbClr val="112744"/>
          </a:solidFill>
          <a:ln w="15875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5" name="Shape 33"/>
          <p:cNvSpPr/>
          <p:nvPr/>
        </p:nvSpPr>
        <p:spPr>
          <a:xfrm>
            <a:off x="9765792" y="1975104"/>
            <a:ext cx="420624" cy="420624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6" name="Text 34"/>
          <p:cNvSpPr/>
          <p:nvPr/>
        </p:nvSpPr>
        <p:spPr>
          <a:xfrm>
            <a:off x="9765792" y="1975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710928" y="239572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ALLOCATE ROOM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48640" y="3794760"/>
            <a:ext cx="1993392" cy="1371600"/>
          </a:xfrm>
          <a:prstGeom prst="rect">
            <a:avLst/>
          </a:prstGeom>
          <a:solidFill>
            <a:srgbClr val="112744"/>
          </a:solidFill>
          <a:ln w="15875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9" name="Shape 37"/>
          <p:cNvSpPr/>
          <p:nvPr/>
        </p:nvSpPr>
        <p:spPr>
          <a:xfrm>
            <a:off x="694944" y="3941064"/>
            <a:ext cx="420624" cy="420624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0" name="Text 38"/>
          <p:cNvSpPr/>
          <p:nvPr/>
        </p:nvSpPr>
        <p:spPr>
          <a:xfrm>
            <a:off x="694944" y="3941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" y="436168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ALLOCATE DOCTOR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2560320" y="4480560"/>
            <a:ext cx="237744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43" name="Shape 41"/>
          <p:cNvSpPr/>
          <p:nvPr/>
        </p:nvSpPr>
        <p:spPr>
          <a:xfrm>
            <a:off x="2816352" y="3794760"/>
            <a:ext cx="1993392" cy="1371600"/>
          </a:xfrm>
          <a:prstGeom prst="rect">
            <a:avLst/>
          </a:prstGeom>
          <a:solidFill>
            <a:srgbClr val="112744"/>
          </a:solidFill>
          <a:ln w="15875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4" name="Shape 42"/>
          <p:cNvSpPr/>
          <p:nvPr/>
        </p:nvSpPr>
        <p:spPr>
          <a:xfrm>
            <a:off x="2962656" y="3941064"/>
            <a:ext cx="420624" cy="420624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5" name="Text 43"/>
          <p:cNvSpPr/>
          <p:nvPr/>
        </p:nvSpPr>
        <p:spPr>
          <a:xfrm>
            <a:off x="2962656" y="3941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907792" y="436168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ALLOCATE EQUIPMENT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4828032" y="4480560"/>
            <a:ext cx="237744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48" name="Shape 46"/>
          <p:cNvSpPr/>
          <p:nvPr/>
        </p:nvSpPr>
        <p:spPr>
          <a:xfrm>
            <a:off x="5084064" y="3794760"/>
            <a:ext cx="1993392" cy="1371600"/>
          </a:xfrm>
          <a:prstGeom prst="rect">
            <a:avLst/>
          </a:prstGeom>
          <a:solidFill>
            <a:srgbClr val="112744"/>
          </a:solidFill>
          <a:ln w="15875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9" name="Shape 47"/>
          <p:cNvSpPr/>
          <p:nvPr/>
        </p:nvSpPr>
        <p:spPr>
          <a:xfrm>
            <a:off x="5230368" y="3941064"/>
            <a:ext cx="420624" cy="420624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0" name="Text 48"/>
          <p:cNvSpPr/>
          <p:nvPr/>
        </p:nvSpPr>
        <p:spPr>
          <a:xfrm>
            <a:off x="5230368" y="3941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175504" y="436168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7095744" y="4480560"/>
            <a:ext cx="237744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53" name="Shape 51"/>
          <p:cNvSpPr/>
          <p:nvPr/>
        </p:nvSpPr>
        <p:spPr>
          <a:xfrm>
            <a:off x="7351776" y="3794760"/>
            <a:ext cx="1993392" cy="1371600"/>
          </a:xfrm>
          <a:prstGeom prst="rect">
            <a:avLst/>
          </a:prstGeom>
          <a:solidFill>
            <a:srgbClr val="112744"/>
          </a:solidFill>
          <a:ln w="15875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4" name="Shape 52"/>
          <p:cNvSpPr/>
          <p:nvPr/>
        </p:nvSpPr>
        <p:spPr>
          <a:xfrm>
            <a:off x="7498080" y="3941064"/>
            <a:ext cx="420624" cy="420624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5" name="Text 53"/>
          <p:cNvSpPr/>
          <p:nvPr/>
        </p:nvSpPr>
        <p:spPr>
          <a:xfrm>
            <a:off x="7498080" y="3941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443216" y="436168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9363456" y="4480560"/>
            <a:ext cx="237744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58" name="Shape 56"/>
          <p:cNvSpPr/>
          <p:nvPr/>
        </p:nvSpPr>
        <p:spPr>
          <a:xfrm>
            <a:off x="9619488" y="3794760"/>
            <a:ext cx="1993392" cy="1371600"/>
          </a:xfrm>
          <a:prstGeom prst="rect">
            <a:avLst/>
          </a:prstGeom>
          <a:solidFill>
            <a:srgbClr val="112744"/>
          </a:solidFill>
          <a:ln w="15875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9" name="Shape 57"/>
          <p:cNvSpPr/>
          <p:nvPr/>
        </p:nvSpPr>
        <p:spPr>
          <a:xfrm>
            <a:off x="9765792" y="3941064"/>
            <a:ext cx="420624" cy="420624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0" name="Text 58"/>
          <p:cNvSpPr/>
          <p:nvPr/>
        </p:nvSpPr>
        <p:spPr>
          <a:xfrm>
            <a:off x="9765792" y="3941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9710928" y="436168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10616184" y="3218688"/>
            <a:ext cx="0" cy="557784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63" name="Text 61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  →  loops back to IDLE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solidFill>
            <a:srgbClr val="0B1F3D"/>
          </a:solidFill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5" name="Text 63"/>
          <p:cNvSpPr/>
          <p:nvPr/>
        </p:nvSpPr>
        <p:spPr>
          <a:xfrm>
            <a:off x="731520" y="587044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11-state cycle: IDLE → RECEIVE → TRIAGE → CHECK → ROOM → DOCTOR → EQUIPMENT → DISPATCH → MONITOR → RELEASE → IDLE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Verilog FSM · Nexys FPGA · Patient Dispatch Controller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10881360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9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463040" cy="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463040" y="822960"/>
            <a:ext cx="0" cy="45720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1399032" y="1216152"/>
            <a:ext cx="128016" cy="128016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10607040" y="5989320"/>
            <a:ext cx="1554480" cy="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10607040" y="5532120"/>
            <a:ext cx="0" cy="45720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10543032" y="5468112"/>
            <a:ext cx="128016" cy="128016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548640" y="457200"/>
            <a:ext cx="310896" cy="310896"/>
          </a:xfrm>
          <a:prstGeom prst="ellipse">
            <a:avLst/>
          </a:prstGeom>
          <a:solidFill>
            <a:srgbClr val="22C55E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1005840" y="31089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1 — NORMAL STROKE PATIENT (URGENT)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86968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FPGA HOSPITAL DISPATCHER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69680" y="6035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01 / 09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875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548640" y="1298448"/>
            <a:ext cx="3529584" cy="841248"/>
          </a:xfrm>
          <a:prstGeom prst="rect">
            <a:avLst/>
          </a:prstGeom>
          <a:solidFill>
            <a:srgbClr val="0E3050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 dirty="0"/>
          </a:p>
        </p:txBody>
      </p:sp>
      <p:sp>
        <p:nvSpPr>
          <p:cNvPr id="14" name="Text 12"/>
          <p:cNvSpPr/>
          <p:nvPr/>
        </p:nvSpPr>
        <p:spPr>
          <a:xfrm>
            <a:off x="713232" y="1389888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ID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" y="1682496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261104" y="1298448"/>
            <a:ext cx="3529584" cy="841248"/>
          </a:xfrm>
          <a:prstGeom prst="rect">
            <a:avLst/>
          </a:prstGeom>
          <a:solidFill>
            <a:srgbClr val="0E3050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 dirty="0"/>
          </a:p>
        </p:txBody>
      </p:sp>
      <p:sp>
        <p:nvSpPr>
          <p:cNvPr id="17" name="Text 15"/>
          <p:cNvSpPr/>
          <p:nvPr/>
        </p:nvSpPr>
        <p:spPr>
          <a:xfrm>
            <a:off x="4425696" y="1389888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25696" y="1682496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Stroke {SW3=1,SW2=0}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973568" y="1298448"/>
            <a:ext cx="3529584" cy="841248"/>
          </a:xfrm>
          <a:prstGeom prst="rect">
            <a:avLst/>
          </a:prstGeom>
          <a:solidFill>
            <a:srgbClr val="0E3050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DE" dirty="0"/>
          </a:p>
        </p:txBody>
      </p:sp>
      <p:sp>
        <p:nvSpPr>
          <p:cNvPr id="20" name="Text 18"/>
          <p:cNvSpPr/>
          <p:nvPr/>
        </p:nvSpPr>
        <p:spPr>
          <a:xfrm>
            <a:off x="8138160" y="1389888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38160" y="1682496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Urgent{SW1=0,SW0=1}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2286000"/>
            <a:ext cx="3480816" cy="749808"/>
          </a:xfrm>
          <a:prstGeom prst="rect">
            <a:avLst/>
          </a:prstGeom>
          <a:solidFill>
            <a:srgbClr val="112744"/>
          </a:solidFill>
          <a:ln w="12700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3" name="Shape 21"/>
          <p:cNvSpPr/>
          <p:nvPr/>
        </p:nvSpPr>
        <p:spPr>
          <a:xfrm>
            <a:off x="548640" y="2286000"/>
            <a:ext cx="82296" cy="74980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Shape 22"/>
          <p:cNvSpPr/>
          <p:nvPr/>
        </p:nvSpPr>
        <p:spPr>
          <a:xfrm>
            <a:off x="713232" y="2432304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713232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25880" y="2368296"/>
            <a:ext cx="2566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Arrives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325880" y="2688336"/>
            <a:ext cx="2566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icon enters the hospital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9048" y="3054096"/>
            <a:ext cx="0" cy="219456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548640" y="3291840"/>
            <a:ext cx="3480816" cy="749808"/>
          </a:xfrm>
          <a:prstGeom prst="rect">
            <a:avLst/>
          </a:prstGeom>
          <a:solidFill>
            <a:srgbClr val="112744"/>
          </a:solidFill>
          <a:ln w="12700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0" name="Shape 28"/>
          <p:cNvSpPr/>
          <p:nvPr/>
        </p:nvSpPr>
        <p:spPr>
          <a:xfrm>
            <a:off x="548640" y="3291840"/>
            <a:ext cx="82296" cy="74980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1" name="Shape 29"/>
          <p:cNvSpPr/>
          <p:nvPr/>
        </p:nvSpPr>
        <p:spPr>
          <a:xfrm>
            <a:off x="713232" y="3438144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2" name="Text 30"/>
          <p:cNvSpPr/>
          <p:nvPr/>
        </p:nvSpPr>
        <p:spPr>
          <a:xfrm>
            <a:off x="713232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325880" y="3374136"/>
            <a:ext cx="2566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 Patient (BTNL)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325880" y="3694176"/>
            <a:ext cx="2566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desk appears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9048" y="4059936"/>
            <a:ext cx="0" cy="219456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36" name="Shape 34"/>
          <p:cNvSpPr/>
          <p:nvPr/>
        </p:nvSpPr>
        <p:spPr>
          <a:xfrm>
            <a:off x="548640" y="4297680"/>
            <a:ext cx="3480816" cy="749808"/>
          </a:xfrm>
          <a:prstGeom prst="rect">
            <a:avLst/>
          </a:prstGeom>
          <a:solidFill>
            <a:srgbClr val="112744"/>
          </a:solidFill>
          <a:ln w="12700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7" name="Shape 35"/>
          <p:cNvSpPr/>
          <p:nvPr/>
        </p:nvSpPr>
        <p:spPr>
          <a:xfrm>
            <a:off x="548640" y="4297680"/>
            <a:ext cx="82296" cy="74980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8" name="Shape 36"/>
          <p:cNvSpPr/>
          <p:nvPr/>
        </p:nvSpPr>
        <p:spPr>
          <a:xfrm>
            <a:off x="713232" y="4443984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9" name="Text 37"/>
          <p:cNvSpPr/>
          <p:nvPr/>
        </p:nvSpPr>
        <p:spPr>
          <a:xfrm>
            <a:off x="713232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325880" y="4379976"/>
            <a:ext cx="2566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Triage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325880" y="4700016"/>
            <a:ext cx="2566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icon appears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289048" y="5065776"/>
            <a:ext cx="0" cy="219456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43" name="Shape 41"/>
          <p:cNvSpPr/>
          <p:nvPr/>
        </p:nvSpPr>
        <p:spPr>
          <a:xfrm>
            <a:off x="548640" y="5303520"/>
            <a:ext cx="3480816" cy="749808"/>
          </a:xfrm>
          <a:prstGeom prst="rect">
            <a:avLst/>
          </a:prstGeom>
          <a:solidFill>
            <a:srgbClr val="112744"/>
          </a:solidFill>
          <a:ln w="12700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4" name="Shape 42"/>
          <p:cNvSpPr/>
          <p:nvPr/>
        </p:nvSpPr>
        <p:spPr>
          <a:xfrm>
            <a:off x="548640" y="5303520"/>
            <a:ext cx="82296" cy="74980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5" name="Shape 43"/>
          <p:cNvSpPr/>
          <p:nvPr/>
        </p:nvSpPr>
        <p:spPr>
          <a:xfrm>
            <a:off x="713232" y="5449824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6" name="Text 44"/>
          <p:cNvSpPr/>
          <p:nvPr/>
        </p:nvSpPr>
        <p:spPr>
          <a:xfrm>
            <a:off x="713232" y="5449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325880" y="5385816"/>
            <a:ext cx="2566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Resources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1325880" y="5705856"/>
            <a:ext cx="2566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Magnifier scans resources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340352" y="2286000"/>
            <a:ext cx="3480816" cy="749808"/>
          </a:xfrm>
          <a:prstGeom prst="rect">
            <a:avLst/>
          </a:prstGeom>
          <a:solidFill>
            <a:srgbClr val="112744"/>
          </a:solidFill>
          <a:ln w="12700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0" name="Shape 48"/>
          <p:cNvSpPr/>
          <p:nvPr/>
        </p:nvSpPr>
        <p:spPr>
          <a:xfrm>
            <a:off x="4340352" y="2286000"/>
            <a:ext cx="82296" cy="74980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1" name="Shape 49"/>
          <p:cNvSpPr/>
          <p:nvPr/>
        </p:nvSpPr>
        <p:spPr>
          <a:xfrm>
            <a:off x="4504944" y="2432304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2" name="Text 50"/>
          <p:cNvSpPr/>
          <p:nvPr/>
        </p:nvSpPr>
        <p:spPr>
          <a:xfrm>
            <a:off x="4504944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117592" y="2368296"/>
            <a:ext cx="2566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Allocate Room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5117592" y="2688336"/>
            <a:ext cx="2566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1 lights green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080760" y="3054096"/>
            <a:ext cx="0" cy="219456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56" name="Shape 54"/>
          <p:cNvSpPr/>
          <p:nvPr/>
        </p:nvSpPr>
        <p:spPr>
          <a:xfrm>
            <a:off x="4340352" y="3291840"/>
            <a:ext cx="3480816" cy="749808"/>
          </a:xfrm>
          <a:prstGeom prst="rect">
            <a:avLst/>
          </a:prstGeom>
          <a:solidFill>
            <a:srgbClr val="112744"/>
          </a:solidFill>
          <a:ln w="12700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7" name="Shape 55"/>
          <p:cNvSpPr/>
          <p:nvPr/>
        </p:nvSpPr>
        <p:spPr>
          <a:xfrm>
            <a:off x="4340352" y="3291840"/>
            <a:ext cx="82296" cy="74980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8" name="Shape 56"/>
          <p:cNvSpPr/>
          <p:nvPr/>
        </p:nvSpPr>
        <p:spPr>
          <a:xfrm>
            <a:off x="4504944" y="3438144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9" name="Text 57"/>
          <p:cNvSpPr/>
          <p:nvPr/>
        </p:nvSpPr>
        <p:spPr>
          <a:xfrm>
            <a:off x="4504944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117592" y="3374136"/>
            <a:ext cx="2566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Allocate Doctor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5117592" y="3694176"/>
            <a:ext cx="2566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1 icon appears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080760" y="4059936"/>
            <a:ext cx="0" cy="219456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63" name="Shape 61"/>
          <p:cNvSpPr/>
          <p:nvPr/>
        </p:nvSpPr>
        <p:spPr>
          <a:xfrm>
            <a:off x="4340352" y="4297680"/>
            <a:ext cx="3480816" cy="749808"/>
          </a:xfrm>
          <a:prstGeom prst="rect">
            <a:avLst/>
          </a:prstGeom>
          <a:solidFill>
            <a:srgbClr val="112744"/>
          </a:solidFill>
          <a:ln w="12700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4" name="Shape 62"/>
          <p:cNvSpPr/>
          <p:nvPr/>
        </p:nvSpPr>
        <p:spPr>
          <a:xfrm>
            <a:off x="4340352" y="4297680"/>
            <a:ext cx="82296" cy="74980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5" name="Shape 63"/>
          <p:cNvSpPr/>
          <p:nvPr/>
        </p:nvSpPr>
        <p:spPr>
          <a:xfrm>
            <a:off x="4504944" y="4443984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6" name="Text 64"/>
          <p:cNvSpPr/>
          <p:nvPr/>
        </p:nvSpPr>
        <p:spPr>
          <a:xfrm>
            <a:off x="4504944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117592" y="4379976"/>
            <a:ext cx="2566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Allocate Equipment</a:t>
            </a:r>
            <a:endParaRPr lang="en-US" sz="1250" dirty="0"/>
          </a:p>
        </p:txBody>
      </p:sp>
      <p:sp>
        <p:nvSpPr>
          <p:cNvPr id="68" name="Text 66"/>
          <p:cNvSpPr/>
          <p:nvPr/>
        </p:nvSpPr>
        <p:spPr>
          <a:xfrm>
            <a:off x="5117592" y="4700016"/>
            <a:ext cx="2566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machine appears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080760" y="5065776"/>
            <a:ext cx="0" cy="219456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70" name="Shape 68"/>
          <p:cNvSpPr/>
          <p:nvPr/>
        </p:nvSpPr>
        <p:spPr>
          <a:xfrm>
            <a:off x="4340352" y="5303520"/>
            <a:ext cx="3480816" cy="749808"/>
          </a:xfrm>
          <a:prstGeom prst="rect">
            <a:avLst/>
          </a:prstGeom>
          <a:solidFill>
            <a:srgbClr val="112744"/>
          </a:solidFill>
          <a:ln w="12700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1" name="Shape 69"/>
          <p:cNvSpPr/>
          <p:nvPr/>
        </p:nvSpPr>
        <p:spPr>
          <a:xfrm>
            <a:off x="4340352" y="5303520"/>
            <a:ext cx="82296" cy="74980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2" name="Shape 70"/>
          <p:cNvSpPr/>
          <p:nvPr/>
        </p:nvSpPr>
        <p:spPr>
          <a:xfrm>
            <a:off x="4504944" y="5449824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3" name="Text 71"/>
          <p:cNvSpPr/>
          <p:nvPr/>
        </p:nvSpPr>
        <p:spPr>
          <a:xfrm>
            <a:off x="4504944" y="5449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5117592" y="5385816"/>
            <a:ext cx="2566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 Team</a:t>
            </a:r>
            <a:endParaRPr lang="en-US" sz="1250" dirty="0"/>
          </a:p>
        </p:txBody>
      </p:sp>
      <p:sp>
        <p:nvSpPr>
          <p:cNvPr id="75" name="Text 73"/>
          <p:cNvSpPr/>
          <p:nvPr/>
        </p:nvSpPr>
        <p:spPr>
          <a:xfrm>
            <a:off x="5117592" y="5705856"/>
            <a:ext cx="2566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moves to patient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8132064" y="2286000"/>
            <a:ext cx="3480816" cy="749808"/>
          </a:xfrm>
          <a:prstGeom prst="rect">
            <a:avLst/>
          </a:prstGeom>
          <a:solidFill>
            <a:srgbClr val="112744"/>
          </a:solidFill>
          <a:ln w="12700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7" name="Shape 75"/>
          <p:cNvSpPr/>
          <p:nvPr/>
        </p:nvSpPr>
        <p:spPr>
          <a:xfrm>
            <a:off x="8132064" y="2286000"/>
            <a:ext cx="82296" cy="74980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8" name="Shape 76"/>
          <p:cNvSpPr/>
          <p:nvPr/>
        </p:nvSpPr>
        <p:spPr>
          <a:xfrm>
            <a:off x="8296656" y="2432304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9" name="Text 77"/>
          <p:cNvSpPr/>
          <p:nvPr/>
        </p:nvSpPr>
        <p:spPr>
          <a:xfrm>
            <a:off x="8296656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8909304" y="2368296"/>
            <a:ext cx="2566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Treatment</a:t>
            </a:r>
            <a:endParaRPr lang="en-US" sz="1250" dirty="0"/>
          </a:p>
        </p:txBody>
      </p:sp>
      <p:sp>
        <p:nvSpPr>
          <p:cNvPr id="81" name="Text 79"/>
          <p:cNvSpPr/>
          <p:nvPr/>
        </p:nvSpPr>
        <p:spPr>
          <a:xfrm>
            <a:off x="8909304" y="2688336"/>
            <a:ext cx="2566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monitor blinking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872472" y="3054096"/>
            <a:ext cx="0" cy="219456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83" name="Shape 81"/>
          <p:cNvSpPr/>
          <p:nvPr/>
        </p:nvSpPr>
        <p:spPr>
          <a:xfrm>
            <a:off x="8132064" y="3291840"/>
            <a:ext cx="3480816" cy="749808"/>
          </a:xfrm>
          <a:prstGeom prst="rect">
            <a:avLst/>
          </a:prstGeom>
          <a:solidFill>
            <a:srgbClr val="112744"/>
          </a:solidFill>
          <a:ln w="12700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4" name="Shape 82"/>
          <p:cNvSpPr/>
          <p:nvPr/>
        </p:nvSpPr>
        <p:spPr>
          <a:xfrm>
            <a:off x="8132064" y="3291840"/>
            <a:ext cx="82296" cy="74980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5" name="Shape 83"/>
          <p:cNvSpPr/>
          <p:nvPr/>
        </p:nvSpPr>
        <p:spPr>
          <a:xfrm>
            <a:off x="8296656" y="3438144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6" name="Text 84"/>
          <p:cNvSpPr/>
          <p:nvPr/>
        </p:nvSpPr>
        <p:spPr>
          <a:xfrm>
            <a:off x="8296656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8909304" y="3374136"/>
            <a:ext cx="2566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 Resources</a:t>
            </a:r>
            <a:endParaRPr lang="en-US" sz="1250" dirty="0"/>
          </a:p>
        </p:txBody>
      </p:sp>
      <p:sp>
        <p:nvSpPr>
          <p:cNvPr id="88" name="Text 86"/>
          <p:cNvSpPr/>
          <p:nvPr/>
        </p:nvSpPr>
        <p:spPr>
          <a:xfrm>
            <a:off x="8909304" y="3694176"/>
            <a:ext cx="2566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Room, doctor &amp; equipment freed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9872472" y="4059936"/>
            <a:ext cx="0" cy="219456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90" name="Shape 88"/>
          <p:cNvSpPr/>
          <p:nvPr/>
        </p:nvSpPr>
        <p:spPr>
          <a:xfrm>
            <a:off x="8132064" y="4297680"/>
            <a:ext cx="3480816" cy="749808"/>
          </a:xfrm>
          <a:prstGeom prst="rect">
            <a:avLst/>
          </a:prstGeom>
          <a:solidFill>
            <a:srgbClr val="112744"/>
          </a:solidFill>
          <a:ln w="12700">
            <a:solidFill>
              <a:srgbClr val="22C55E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1" name="Shape 89"/>
          <p:cNvSpPr/>
          <p:nvPr/>
        </p:nvSpPr>
        <p:spPr>
          <a:xfrm>
            <a:off x="8132064" y="4297680"/>
            <a:ext cx="82296" cy="74980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2" name="Shape 90"/>
          <p:cNvSpPr/>
          <p:nvPr/>
        </p:nvSpPr>
        <p:spPr>
          <a:xfrm>
            <a:off x="8296656" y="4443984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3" name="Text 91"/>
          <p:cNvSpPr/>
          <p:nvPr/>
        </p:nvSpPr>
        <p:spPr>
          <a:xfrm>
            <a:off x="8296656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</a:t>
            </a:r>
            <a:endParaRPr lang="en-US" sz="1300" dirty="0"/>
          </a:p>
        </p:txBody>
      </p:sp>
      <p:sp>
        <p:nvSpPr>
          <p:cNvPr id="94" name="Text 92"/>
          <p:cNvSpPr/>
          <p:nvPr/>
        </p:nvSpPr>
        <p:spPr>
          <a:xfrm>
            <a:off x="8909304" y="4379976"/>
            <a:ext cx="2566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Returns to IDLE</a:t>
            </a:r>
            <a:endParaRPr lang="en-US" sz="1250" dirty="0"/>
          </a:p>
        </p:txBody>
      </p:sp>
      <p:sp>
        <p:nvSpPr>
          <p:cNvPr id="95" name="Text 93"/>
          <p:cNvSpPr/>
          <p:nvPr/>
        </p:nvSpPr>
        <p:spPr>
          <a:xfrm>
            <a:off x="8909304" y="4700016"/>
            <a:ext cx="2566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returns to ready state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Verilog FSM · Nexys FPGA · Patient Dispatch Controller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10881360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9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463040" cy="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463040" y="822960"/>
            <a:ext cx="0" cy="45720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1399032" y="1216152"/>
            <a:ext cx="128016" cy="128016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10607040" y="5989320"/>
            <a:ext cx="1554480" cy="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10607040" y="5532120"/>
            <a:ext cx="0" cy="45720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10543032" y="5468112"/>
            <a:ext cx="128016" cy="128016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548640" y="457200"/>
            <a:ext cx="310896" cy="310896"/>
          </a:xfrm>
          <a:prstGeom prst="ellipse">
            <a:avLst/>
          </a:prstGeom>
          <a:solidFill>
            <a:srgbClr val="EF4444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1005840" y="31089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2 — CRITICAL HEART ATTACK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86968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FPGA HOSPITAL DISPATCHER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69680" y="6035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02 / 09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875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548640" y="1371600"/>
            <a:ext cx="3383280" cy="676656"/>
          </a:xfrm>
          <a:prstGeom prst="rect">
            <a:avLst/>
          </a:prstGeom>
          <a:solidFill>
            <a:srgbClr val="112744"/>
          </a:solidFill>
          <a:ln w="12700">
            <a:solidFill>
              <a:srgbClr val="EF4444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548640" y="1371600"/>
            <a:ext cx="82296" cy="67665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713232" y="1481328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713232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1371600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Arrives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240280" y="2066544"/>
            <a:ext cx="0" cy="102108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548640" y="2186940"/>
            <a:ext cx="3383280" cy="676656"/>
          </a:xfrm>
          <a:prstGeom prst="rect">
            <a:avLst/>
          </a:prstGeom>
          <a:solidFill>
            <a:srgbClr val="112744"/>
          </a:solidFill>
          <a:ln w="12700">
            <a:solidFill>
              <a:srgbClr val="EF4444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548640" y="2186940"/>
            <a:ext cx="82296" cy="67665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Shape 19"/>
          <p:cNvSpPr/>
          <p:nvPr/>
        </p:nvSpPr>
        <p:spPr>
          <a:xfrm>
            <a:off x="713232" y="2296668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713232" y="2296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2186940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Flag Appears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240280" y="2881884"/>
            <a:ext cx="0" cy="102108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25" name="Shape 23"/>
          <p:cNvSpPr/>
          <p:nvPr/>
        </p:nvSpPr>
        <p:spPr>
          <a:xfrm>
            <a:off x="548640" y="3002280"/>
            <a:ext cx="3383280" cy="676656"/>
          </a:xfrm>
          <a:prstGeom prst="rect">
            <a:avLst/>
          </a:prstGeom>
          <a:solidFill>
            <a:srgbClr val="112744"/>
          </a:solidFill>
          <a:ln w="12700">
            <a:solidFill>
              <a:srgbClr val="EF4444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6" name="Shape 24"/>
          <p:cNvSpPr/>
          <p:nvPr/>
        </p:nvSpPr>
        <p:spPr>
          <a:xfrm>
            <a:off x="548640" y="3002280"/>
            <a:ext cx="82296" cy="67665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7" name="Shape 25"/>
          <p:cNvSpPr/>
          <p:nvPr/>
        </p:nvSpPr>
        <p:spPr>
          <a:xfrm>
            <a:off x="713232" y="3112008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Text 26"/>
          <p:cNvSpPr/>
          <p:nvPr/>
        </p:nvSpPr>
        <p:spPr>
          <a:xfrm>
            <a:off x="713232" y="3112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25880" y="3002280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LED12 Turns 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240280" y="3697224"/>
            <a:ext cx="0" cy="102108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31" name="Shape 29"/>
          <p:cNvSpPr/>
          <p:nvPr/>
        </p:nvSpPr>
        <p:spPr>
          <a:xfrm>
            <a:off x="548640" y="3817620"/>
            <a:ext cx="3383280" cy="676656"/>
          </a:xfrm>
          <a:prstGeom prst="rect">
            <a:avLst/>
          </a:prstGeom>
          <a:solidFill>
            <a:srgbClr val="112744"/>
          </a:solidFill>
          <a:ln w="12700">
            <a:solidFill>
              <a:srgbClr val="FBBF24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2" name="Shape 30"/>
          <p:cNvSpPr/>
          <p:nvPr/>
        </p:nvSpPr>
        <p:spPr>
          <a:xfrm>
            <a:off x="548640" y="3817620"/>
            <a:ext cx="82296" cy="676656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3" name="Shape 31"/>
          <p:cNvSpPr/>
          <p:nvPr/>
        </p:nvSpPr>
        <p:spPr>
          <a:xfrm>
            <a:off x="713232" y="3927348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4" name="Text 32"/>
          <p:cNvSpPr/>
          <p:nvPr/>
        </p:nvSpPr>
        <p:spPr>
          <a:xfrm>
            <a:off x="713232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325880" y="3817620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 Score → Maximum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240280" y="4512564"/>
            <a:ext cx="0" cy="102108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37" name="Shape 35"/>
          <p:cNvSpPr/>
          <p:nvPr/>
        </p:nvSpPr>
        <p:spPr>
          <a:xfrm>
            <a:off x="548640" y="4632960"/>
            <a:ext cx="3383280" cy="676656"/>
          </a:xfrm>
          <a:prstGeom prst="rect">
            <a:avLst/>
          </a:prstGeom>
          <a:solidFill>
            <a:srgbClr val="112744"/>
          </a:solidFill>
          <a:ln w="12700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8" name="Shape 36"/>
          <p:cNvSpPr/>
          <p:nvPr/>
        </p:nvSpPr>
        <p:spPr>
          <a:xfrm>
            <a:off x="548640" y="4632960"/>
            <a:ext cx="82296" cy="676656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9" name="Shape 37"/>
          <p:cNvSpPr/>
          <p:nvPr/>
        </p:nvSpPr>
        <p:spPr>
          <a:xfrm>
            <a:off x="713232" y="4742688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0" name="Text 38"/>
          <p:cNvSpPr/>
          <p:nvPr/>
        </p:nvSpPr>
        <p:spPr>
          <a:xfrm>
            <a:off x="713232" y="4742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325880" y="4632960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Assigned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240280" y="5327904"/>
            <a:ext cx="0" cy="102108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43" name="Shape 41"/>
          <p:cNvSpPr/>
          <p:nvPr/>
        </p:nvSpPr>
        <p:spPr>
          <a:xfrm>
            <a:off x="548640" y="5448300"/>
            <a:ext cx="3383280" cy="676656"/>
          </a:xfrm>
          <a:prstGeom prst="rect">
            <a:avLst/>
          </a:prstGeom>
          <a:solidFill>
            <a:srgbClr val="112744"/>
          </a:solidFill>
          <a:ln w="12700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4" name="Shape 42"/>
          <p:cNvSpPr/>
          <p:nvPr/>
        </p:nvSpPr>
        <p:spPr>
          <a:xfrm>
            <a:off x="548640" y="5448300"/>
            <a:ext cx="82296" cy="676656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5" name="Shape 43"/>
          <p:cNvSpPr/>
          <p:nvPr/>
        </p:nvSpPr>
        <p:spPr>
          <a:xfrm>
            <a:off x="713232" y="5558028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6" name="Text 44"/>
          <p:cNvSpPr/>
          <p:nvPr/>
        </p:nvSpPr>
        <p:spPr>
          <a:xfrm>
            <a:off x="713232" y="55580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325880" y="5448300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 Assigned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206240" y="1371600"/>
            <a:ext cx="3383280" cy="676656"/>
          </a:xfrm>
          <a:prstGeom prst="rect">
            <a:avLst/>
          </a:prstGeom>
          <a:solidFill>
            <a:srgbClr val="112744"/>
          </a:solidFill>
          <a:ln w="12700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9" name="Shape 47"/>
          <p:cNvSpPr/>
          <p:nvPr/>
        </p:nvSpPr>
        <p:spPr>
          <a:xfrm>
            <a:off x="4206240" y="1371600"/>
            <a:ext cx="82296" cy="676656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0" name="Shape 48"/>
          <p:cNvSpPr/>
          <p:nvPr/>
        </p:nvSpPr>
        <p:spPr>
          <a:xfrm>
            <a:off x="4370832" y="1481328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1" name="Text 49"/>
          <p:cNvSpPr/>
          <p:nvPr/>
        </p:nvSpPr>
        <p:spPr>
          <a:xfrm>
            <a:off x="4370832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983480" y="1371600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 Assigned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897880" y="2066544"/>
            <a:ext cx="0" cy="102108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54" name="Shape 52"/>
          <p:cNvSpPr/>
          <p:nvPr/>
        </p:nvSpPr>
        <p:spPr>
          <a:xfrm>
            <a:off x="4206240" y="2186940"/>
            <a:ext cx="3383280" cy="676656"/>
          </a:xfrm>
          <a:prstGeom prst="rect">
            <a:avLst/>
          </a:prstGeom>
          <a:solidFill>
            <a:srgbClr val="112744"/>
          </a:solidFill>
          <a:ln w="12700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5" name="Shape 53"/>
          <p:cNvSpPr/>
          <p:nvPr/>
        </p:nvSpPr>
        <p:spPr>
          <a:xfrm>
            <a:off x="4206240" y="2186940"/>
            <a:ext cx="82296" cy="676656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6" name="Shape 54"/>
          <p:cNvSpPr/>
          <p:nvPr/>
        </p:nvSpPr>
        <p:spPr>
          <a:xfrm>
            <a:off x="4370832" y="2296668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7" name="Text 55"/>
          <p:cNvSpPr/>
          <p:nvPr/>
        </p:nvSpPr>
        <p:spPr>
          <a:xfrm>
            <a:off x="4370832" y="2296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4983480" y="2186940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5897880" y="2881884"/>
            <a:ext cx="0" cy="102108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60" name="Shape 58"/>
          <p:cNvSpPr/>
          <p:nvPr/>
        </p:nvSpPr>
        <p:spPr>
          <a:xfrm>
            <a:off x="4206240" y="3002280"/>
            <a:ext cx="3383280" cy="676656"/>
          </a:xfrm>
          <a:prstGeom prst="rect">
            <a:avLst/>
          </a:prstGeom>
          <a:solidFill>
            <a:srgbClr val="112744"/>
          </a:solidFill>
          <a:ln w="12700">
            <a:solidFill>
              <a:srgbClr val="FBBF24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1" name="Shape 59"/>
          <p:cNvSpPr/>
          <p:nvPr/>
        </p:nvSpPr>
        <p:spPr>
          <a:xfrm>
            <a:off x="4206240" y="3002280"/>
            <a:ext cx="82296" cy="676656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2" name="Shape 60"/>
          <p:cNvSpPr/>
          <p:nvPr/>
        </p:nvSpPr>
        <p:spPr>
          <a:xfrm>
            <a:off x="4370832" y="3112008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3" name="Text 61"/>
          <p:cNvSpPr/>
          <p:nvPr/>
        </p:nvSpPr>
        <p:spPr>
          <a:xfrm>
            <a:off x="4370832" y="3112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4983480" y="3002280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Treatment Timer Runs Longer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5897880" y="3697224"/>
            <a:ext cx="0" cy="102108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66" name="Shape 64"/>
          <p:cNvSpPr/>
          <p:nvPr/>
        </p:nvSpPr>
        <p:spPr>
          <a:xfrm>
            <a:off x="4206240" y="3817620"/>
            <a:ext cx="3383280" cy="676656"/>
          </a:xfrm>
          <a:prstGeom prst="rect">
            <a:avLst/>
          </a:prstGeom>
          <a:solidFill>
            <a:srgbClr val="112744"/>
          </a:solidFill>
          <a:ln w="12700">
            <a:solidFill>
              <a:srgbClr val="22C55E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7" name="Shape 65"/>
          <p:cNvSpPr/>
          <p:nvPr/>
        </p:nvSpPr>
        <p:spPr>
          <a:xfrm>
            <a:off x="4206240" y="3817620"/>
            <a:ext cx="82296" cy="67665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8" name="Shape 66"/>
          <p:cNvSpPr/>
          <p:nvPr/>
        </p:nvSpPr>
        <p:spPr>
          <a:xfrm>
            <a:off x="4370832" y="3927348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9" name="Text 67"/>
          <p:cNvSpPr/>
          <p:nvPr/>
        </p:nvSpPr>
        <p:spPr>
          <a:xfrm>
            <a:off x="4370832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4983480" y="3817620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 Released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5897880" y="4512564"/>
            <a:ext cx="0" cy="102108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72" name="Shape 70"/>
          <p:cNvSpPr/>
          <p:nvPr/>
        </p:nvSpPr>
        <p:spPr>
          <a:xfrm>
            <a:off x="4206240" y="4632960"/>
            <a:ext cx="3383280" cy="676656"/>
          </a:xfrm>
          <a:prstGeom prst="rect">
            <a:avLst/>
          </a:prstGeom>
          <a:solidFill>
            <a:srgbClr val="112744"/>
          </a:solidFill>
          <a:ln w="12700">
            <a:solidFill>
              <a:srgbClr val="22C55E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3" name="Shape 71"/>
          <p:cNvSpPr/>
          <p:nvPr/>
        </p:nvSpPr>
        <p:spPr>
          <a:xfrm>
            <a:off x="4206240" y="4632960"/>
            <a:ext cx="82296" cy="67665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4" name="Shape 72"/>
          <p:cNvSpPr/>
          <p:nvPr/>
        </p:nvSpPr>
        <p:spPr>
          <a:xfrm>
            <a:off x="4370832" y="4742688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5" name="Text 73"/>
          <p:cNvSpPr/>
          <p:nvPr/>
        </p:nvSpPr>
        <p:spPr>
          <a:xfrm>
            <a:off x="4370832" y="4742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4983480" y="4632960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Flag Removed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7955280" y="1371600"/>
            <a:ext cx="3657600" cy="841248"/>
          </a:xfrm>
          <a:prstGeom prst="rect">
            <a:avLst/>
          </a:prstGeom>
          <a:solidFill>
            <a:srgbClr val="0E305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8" name="Text 76"/>
          <p:cNvSpPr/>
          <p:nvPr/>
        </p:nvSpPr>
        <p:spPr>
          <a:xfrm>
            <a:off x="8119872" y="14630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ID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8119872" y="17556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sp>
        <p:nvSpPr>
          <p:cNvPr id="80" name="Shape 78"/>
          <p:cNvSpPr/>
          <p:nvPr/>
        </p:nvSpPr>
        <p:spPr>
          <a:xfrm>
            <a:off x="9747504" y="1371600"/>
            <a:ext cx="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DE"/>
          </a:p>
        </p:txBody>
      </p:sp>
      <p:sp>
        <p:nvSpPr>
          <p:cNvPr id="81" name="Shape 79"/>
          <p:cNvSpPr/>
          <p:nvPr/>
        </p:nvSpPr>
        <p:spPr>
          <a:xfrm>
            <a:off x="7955280" y="2340864"/>
            <a:ext cx="1737360" cy="841248"/>
          </a:xfrm>
          <a:prstGeom prst="rect">
            <a:avLst/>
          </a:prstGeom>
          <a:solidFill>
            <a:srgbClr val="0E305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2" name="Text 80"/>
          <p:cNvSpPr/>
          <p:nvPr/>
        </p:nvSpPr>
        <p:spPr>
          <a:xfrm>
            <a:off x="8119872" y="243230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8119872" y="27249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 Atk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9875520" y="2340864"/>
            <a:ext cx="1737360" cy="841248"/>
          </a:xfrm>
          <a:prstGeom prst="rect">
            <a:avLst/>
          </a:prstGeom>
          <a:solidFill>
            <a:srgbClr val="0E305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5" name="Text 83"/>
          <p:cNvSpPr/>
          <p:nvPr/>
        </p:nvSpPr>
        <p:spPr>
          <a:xfrm>
            <a:off x="10040112" y="243230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10040112" y="27249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1800" dirty="0"/>
          </a:p>
        </p:txBody>
      </p:sp>
      <p:sp>
        <p:nvSpPr>
          <p:cNvPr id="87" name="Shape 85"/>
          <p:cNvSpPr/>
          <p:nvPr/>
        </p:nvSpPr>
        <p:spPr>
          <a:xfrm>
            <a:off x="7955280" y="3383280"/>
            <a:ext cx="3657600" cy="868680"/>
          </a:xfrm>
          <a:prstGeom prst="rect">
            <a:avLst/>
          </a:prstGeom>
          <a:solidFill>
            <a:srgbClr val="3B0F14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8" name="Text 86"/>
          <p:cNvSpPr/>
          <p:nvPr/>
        </p:nvSpPr>
        <p:spPr>
          <a:xfrm>
            <a:off x="8092440" y="345643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 FLASHES RED ONCE</a:t>
            </a:r>
            <a:endParaRPr lang="en-US" sz="1150" dirty="0"/>
          </a:p>
        </p:txBody>
      </p:sp>
      <p:sp>
        <p:nvSpPr>
          <p:cNvPr id="89" name="Text 87"/>
          <p:cNvSpPr/>
          <p:nvPr/>
        </p:nvSpPr>
        <p:spPr>
          <a:xfrm>
            <a:off x="8092440" y="37856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when Severity = Critical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7955280" y="4434840"/>
            <a:ext cx="3657600" cy="1737360"/>
          </a:xfrm>
          <a:prstGeom prst="rect">
            <a:avLst/>
          </a:prstGeom>
          <a:solidFill>
            <a:srgbClr val="0E3050"/>
          </a:solidFill>
          <a:ln w="19050">
            <a:solidFill>
              <a:srgbClr val="FBBF24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1" name="Text 89"/>
          <p:cNvSpPr/>
          <p:nvPr/>
        </p:nvSpPr>
        <p:spPr>
          <a:xfrm>
            <a:off x="7955280" y="45720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TREATMENT COUNTDOWN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7955280" y="482803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4s</a:t>
            </a:r>
            <a:endParaRPr lang="en-US" sz="6000" dirty="0"/>
          </a:p>
        </p:txBody>
      </p:sp>
      <p:sp>
        <p:nvSpPr>
          <p:cNvPr id="93" name="Text 91"/>
          <p:cNvSpPr/>
          <p:nvPr/>
        </p:nvSpPr>
        <p:spPr>
          <a:xfrm>
            <a:off x="7955280" y="5833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timer for critical care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Verilog FSM · Nexys FPGA · Patient Dispatch Controller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10881360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9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463040" cy="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463040" y="822960"/>
            <a:ext cx="0" cy="45720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1399032" y="1216152"/>
            <a:ext cx="128016" cy="128016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10607040" y="5989320"/>
            <a:ext cx="1554480" cy="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10607040" y="5532120"/>
            <a:ext cx="0" cy="45720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10543032" y="5468112"/>
            <a:ext cx="128016" cy="128016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548640" y="457200"/>
            <a:ext cx="310896" cy="310896"/>
          </a:xfrm>
          <a:prstGeom prst="ellipse">
            <a:avLst/>
          </a:prstGeom>
          <a:solidFill>
            <a:srgbClr val="38BDF8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1005840" y="31089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4 — PARKING MULTIPLE PATIENTS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86968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FPGA HOSPITAL DISPATCHER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69680" y="6035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04 / 09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875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demonstrate FPGA resource management across simultaneous patients.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1737360"/>
            <a:ext cx="3529584" cy="2651760"/>
          </a:xfrm>
          <a:prstGeom prst="rect">
            <a:avLst/>
          </a:prstGeom>
          <a:solidFill>
            <a:srgbClr val="112744"/>
          </a:solidFill>
          <a:ln w="15875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548640" y="1737360"/>
            <a:ext cx="3529584" cy="457200"/>
          </a:xfrm>
          <a:prstGeom prst="rect">
            <a:avLst/>
          </a:prstGeom>
          <a:solidFill>
            <a:srgbClr val="0E305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731520" y="173736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304288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2688336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 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072384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 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349300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LEDs 0, 4, 8 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5528" y="3822192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Shape 20"/>
          <p:cNvSpPr/>
          <p:nvPr/>
        </p:nvSpPr>
        <p:spPr>
          <a:xfrm>
            <a:off x="749808" y="3776472"/>
            <a:ext cx="329184" cy="329184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1106424" y="378561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74520" y="3822192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Shape 23"/>
          <p:cNvSpPr/>
          <p:nvPr/>
        </p:nvSpPr>
        <p:spPr>
          <a:xfrm>
            <a:off x="1828800" y="3776472"/>
            <a:ext cx="329184" cy="329184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Text 24"/>
          <p:cNvSpPr/>
          <p:nvPr/>
        </p:nvSpPr>
        <p:spPr>
          <a:xfrm>
            <a:off x="2185416" y="378561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53512" y="3822192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Shape 26"/>
          <p:cNvSpPr/>
          <p:nvPr/>
        </p:nvSpPr>
        <p:spPr>
          <a:xfrm>
            <a:off x="2907792" y="3776472"/>
            <a:ext cx="329184" cy="329184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9" name="Text 27"/>
          <p:cNvSpPr/>
          <p:nvPr/>
        </p:nvSpPr>
        <p:spPr>
          <a:xfrm>
            <a:off x="3264408" y="378561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L8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7240" y="4389120"/>
            <a:ext cx="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DE"/>
          </a:p>
        </p:txBody>
      </p:sp>
      <p:sp>
        <p:nvSpPr>
          <p:cNvPr id="31" name="Shape 29"/>
          <p:cNvSpPr/>
          <p:nvPr/>
        </p:nvSpPr>
        <p:spPr>
          <a:xfrm>
            <a:off x="4315968" y="1737360"/>
            <a:ext cx="3529584" cy="2651760"/>
          </a:xfrm>
          <a:prstGeom prst="rect">
            <a:avLst/>
          </a:prstGeom>
          <a:solidFill>
            <a:srgbClr val="112744"/>
          </a:solidFill>
          <a:ln w="15875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2" name="Shape 30"/>
          <p:cNvSpPr/>
          <p:nvPr/>
        </p:nvSpPr>
        <p:spPr>
          <a:xfrm>
            <a:off x="4315968" y="1737360"/>
            <a:ext cx="3529584" cy="457200"/>
          </a:xfrm>
          <a:prstGeom prst="rect">
            <a:avLst/>
          </a:prstGeom>
          <a:solidFill>
            <a:srgbClr val="0E305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3" name="Text 31"/>
          <p:cNvSpPr/>
          <p:nvPr/>
        </p:nvSpPr>
        <p:spPr>
          <a:xfrm>
            <a:off x="4498848" y="173736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44568" y="2304288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44568" y="2688336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 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44568" y="3072384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 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44568" y="349300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LEDs 1, 5, 9 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62856" y="3822192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9" name="Shape 37"/>
          <p:cNvSpPr/>
          <p:nvPr/>
        </p:nvSpPr>
        <p:spPr>
          <a:xfrm>
            <a:off x="4517136" y="3776472"/>
            <a:ext cx="329184" cy="329184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0" name="Text 38"/>
          <p:cNvSpPr/>
          <p:nvPr/>
        </p:nvSpPr>
        <p:spPr>
          <a:xfrm>
            <a:off x="4873752" y="378561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41848" y="3822192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2" name="Shape 40"/>
          <p:cNvSpPr/>
          <p:nvPr/>
        </p:nvSpPr>
        <p:spPr>
          <a:xfrm>
            <a:off x="5596128" y="3776472"/>
            <a:ext cx="329184" cy="329184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3" name="Text 41"/>
          <p:cNvSpPr/>
          <p:nvPr/>
        </p:nvSpPr>
        <p:spPr>
          <a:xfrm>
            <a:off x="5952744" y="378561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20840" y="3822192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5" name="Shape 43"/>
          <p:cNvSpPr/>
          <p:nvPr/>
        </p:nvSpPr>
        <p:spPr>
          <a:xfrm>
            <a:off x="6675120" y="3776472"/>
            <a:ext cx="329184" cy="329184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6" name="Text 44"/>
          <p:cNvSpPr/>
          <p:nvPr/>
        </p:nvSpPr>
        <p:spPr>
          <a:xfrm>
            <a:off x="7031736" y="378561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L9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44568" y="4389120"/>
            <a:ext cx="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DE"/>
          </a:p>
        </p:txBody>
      </p:sp>
      <p:sp>
        <p:nvSpPr>
          <p:cNvPr id="48" name="Shape 46"/>
          <p:cNvSpPr/>
          <p:nvPr/>
        </p:nvSpPr>
        <p:spPr>
          <a:xfrm>
            <a:off x="8083296" y="1737360"/>
            <a:ext cx="3529584" cy="2651760"/>
          </a:xfrm>
          <a:prstGeom prst="rect">
            <a:avLst/>
          </a:prstGeom>
          <a:solidFill>
            <a:srgbClr val="112744"/>
          </a:solidFill>
          <a:ln w="15875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9" name="Shape 47"/>
          <p:cNvSpPr/>
          <p:nvPr/>
        </p:nvSpPr>
        <p:spPr>
          <a:xfrm>
            <a:off x="8083296" y="1737360"/>
            <a:ext cx="3529584" cy="457200"/>
          </a:xfrm>
          <a:prstGeom prst="rect">
            <a:avLst/>
          </a:prstGeom>
          <a:solidFill>
            <a:srgbClr val="0E305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0" name="Text 48"/>
          <p:cNvSpPr/>
          <p:nvPr/>
        </p:nvSpPr>
        <p:spPr>
          <a:xfrm>
            <a:off x="8266176" y="173736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3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311896" y="2304288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3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311896" y="2688336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 3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311896" y="3072384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 3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311896" y="349300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LEDs 2, 6, 10 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330184" y="3822192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6" name="Shape 54"/>
          <p:cNvSpPr/>
          <p:nvPr/>
        </p:nvSpPr>
        <p:spPr>
          <a:xfrm>
            <a:off x="8284464" y="3776472"/>
            <a:ext cx="329184" cy="329184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7" name="Text 55"/>
          <p:cNvSpPr/>
          <p:nvPr/>
        </p:nvSpPr>
        <p:spPr>
          <a:xfrm>
            <a:off x="8641080" y="378561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409176" y="3822192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9" name="Shape 57"/>
          <p:cNvSpPr/>
          <p:nvPr/>
        </p:nvSpPr>
        <p:spPr>
          <a:xfrm>
            <a:off x="9363456" y="3776472"/>
            <a:ext cx="329184" cy="329184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0" name="Text 58"/>
          <p:cNvSpPr/>
          <p:nvPr/>
        </p:nvSpPr>
        <p:spPr>
          <a:xfrm>
            <a:off x="9720072" y="378561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L6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0488168" y="3822192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2" name="Shape 60"/>
          <p:cNvSpPr/>
          <p:nvPr/>
        </p:nvSpPr>
        <p:spPr>
          <a:xfrm>
            <a:off x="10442448" y="3776472"/>
            <a:ext cx="329184" cy="329184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3" name="Text 61"/>
          <p:cNvSpPr/>
          <p:nvPr/>
        </p:nvSpPr>
        <p:spPr>
          <a:xfrm>
            <a:off x="10799064" y="378561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L10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311896" y="4389120"/>
            <a:ext cx="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DE"/>
          </a:p>
        </p:txBody>
      </p:sp>
      <p:sp>
        <p:nvSpPr>
          <p:cNvPr id="65" name="Text 63"/>
          <p:cNvSpPr/>
          <p:nvPr/>
        </p:nvSpPr>
        <p:spPr>
          <a:xfrm>
            <a:off x="548640" y="45171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patient parked with BTNU  →  resources held in FPGA slots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48640" y="4937760"/>
            <a:ext cx="11064240" cy="1371600"/>
          </a:xfrm>
          <a:prstGeom prst="rect">
            <a:avLst/>
          </a:prstGeom>
          <a:solidFill>
            <a:srgbClr val="0B1F3D"/>
          </a:solidFill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7" name="Text 65"/>
          <p:cNvSpPr/>
          <p:nvPr/>
        </p:nvSpPr>
        <p:spPr>
          <a:xfrm>
            <a:off x="731520" y="5029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HOSPITAL DASHBOARD — ALL RESOURCES BUSY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731520" y="5358384"/>
            <a:ext cx="3529584" cy="384048"/>
          </a:xfrm>
          <a:prstGeom prst="rect">
            <a:avLst/>
          </a:prstGeom>
          <a:solidFill>
            <a:srgbClr val="112744"/>
          </a:solidFill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9" name="Shape 67"/>
          <p:cNvSpPr/>
          <p:nvPr/>
        </p:nvSpPr>
        <p:spPr>
          <a:xfrm>
            <a:off x="859536" y="5458968"/>
            <a:ext cx="182880" cy="182880"/>
          </a:xfrm>
          <a:prstGeom prst="ellipse">
            <a:avLst/>
          </a:prstGeom>
          <a:solidFill>
            <a:srgbClr val="EF444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0" name="Text 68"/>
          <p:cNvSpPr/>
          <p:nvPr/>
        </p:nvSpPr>
        <p:spPr>
          <a:xfrm>
            <a:off x="1188720" y="5358384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1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2889504" y="535838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BUSY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315968" y="5358384"/>
            <a:ext cx="3529584" cy="384048"/>
          </a:xfrm>
          <a:prstGeom prst="rect">
            <a:avLst/>
          </a:prstGeom>
          <a:solidFill>
            <a:srgbClr val="112744"/>
          </a:solidFill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3" name="Shape 71"/>
          <p:cNvSpPr/>
          <p:nvPr/>
        </p:nvSpPr>
        <p:spPr>
          <a:xfrm>
            <a:off x="4443984" y="5458968"/>
            <a:ext cx="182880" cy="182880"/>
          </a:xfrm>
          <a:prstGeom prst="ellipse">
            <a:avLst/>
          </a:prstGeom>
          <a:solidFill>
            <a:srgbClr val="EF444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4" name="Text 72"/>
          <p:cNvSpPr/>
          <p:nvPr/>
        </p:nvSpPr>
        <p:spPr>
          <a:xfrm>
            <a:off x="4773168" y="5358384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2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6473952" y="535838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BUSY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7900416" y="5358384"/>
            <a:ext cx="3529584" cy="384048"/>
          </a:xfrm>
          <a:prstGeom prst="rect">
            <a:avLst/>
          </a:prstGeom>
          <a:solidFill>
            <a:srgbClr val="112744"/>
          </a:solidFill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7" name="Shape 75"/>
          <p:cNvSpPr/>
          <p:nvPr/>
        </p:nvSpPr>
        <p:spPr>
          <a:xfrm>
            <a:off x="8028432" y="5458968"/>
            <a:ext cx="182880" cy="182880"/>
          </a:xfrm>
          <a:prstGeom prst="ellipse">
            <a:avLst/>
          </a:prstGeom>
          <a:solidFill>
            <a:srgbClr val="EF444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8" name="Text 76"/>
          <p:cNvSpPr/>
          <p:nvPr/>
        </p:nvSpPr>
        <p:spPr>
          <a:xfrm>
            <a:off x="8357616" y="5358384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3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10058400" y="535838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BUSY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731520" y="5815584"/>
            <a:ext cx="3529584" cy="384048"/>
          </a:xfrm>
          <a:prstGeom prst="rect">
            <a:avLst/>
          </a:prstGeom>
          <a:solidFill>
            <a:srgbClr val="112744"/>
          </a:solidFill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1" name="Shape 79"/>
          <p:cNvSpPr/>
          <p:nvPr/>
        </p:nvSpPr>
        <p:spPr>
          <a:xfrm>
            <a:off x="859536" y="5916168"/>
            <a:ext cx="182880" cy="182880"/>
          </a:xfrm>
          <a:prstGeom prst="ellipse">
            <a:avLst/>
          </a:prstGeom>
          <a:solidFill>
            <a:srgbClr val="EF444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2" name="Text 80"/>
          <p:cNvSpPr/>
          <p:nvPr/>
        </p:nvSpPr>
        <p:spPr>
          <a:xfrm>
            <a:off x="1188720" y="5815584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 1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2889504" y="581558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BUSY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4315968" y="5815584"/>
            <a:ext cx="3529584" cy="384048"/>
          </a:xfrm>
          <a:prstGeom prst="rect">
            <a:avLst/>
          </a:prstGeom>
          <a:solidFill>
            <a:srgbClr val="112744"/>
          </a:solidFill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5" name="Shape 83"/>
          <p:cNvSpPr/>
          <p:nvPr/>
        </p:nvSpPr>
        <p:spPr>
          <a:xfrm>
            <a:off x="4443984" y="5916168"/>
            <a:ext cx="182880" cy="182880"/>
          </a:xfrm>
          <a:prstGeom prst="ellipse">
            <a:avLst/>
          </a:prstGeom>
          <a:solidFill>
            <a:srgbClr val="EF444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6" name="Text 84"/>
          <p:cNvSpPr/>
          <p:nvPr/>
        </p:nvSpPr>
        <p:spPr>
          <a:xfrm>
            <a:off x="4773168" y="5815584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 2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6473952" y="581558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BUSY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7900416" y="5815584"/>
            <a:ext cx="3529584" cy="384048"/>
          </a:xfrm>
          <a:prstGeom prst="rect">
            <a:avLst/>
          </a:prstGeom>
          <a:solidFill>
            <a:srgbClr val="112744"/>
          </a:solidFill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9" name="Shape 87"/>
          <p:cNvSpPr/>
          <p:nvPr/>
        </p:nvSpPr>
        <p:spPr>
          <a:xfrm>
            <a:off x="8028432" y="5916168"/>
            <a:ext cx="182880" cy="182880"/>
          </a:xfrm>
          <a:prstGeom prst="ellipse">
            <a:avLst/>
          </a:prstGeom>
          <a:solidFill>
            <a:srgbClr val="EF444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0" name="Text 88"/>
          <p:cNvSpPr/>
          <p:nvPr/>
        </p:nvSpPr>
        <p:spPr>
          <a:xfrm>
            <a:off x="8357616" y="5815584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 3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10058400" y="581558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BUSY</a:t>
            </a:r>
            <a:endParaRPr lang="en-US" sz="1050" dirty="0"/>
          </a:p>
        </p:txBody>
      </p:sp>
      <p:sp>
        <p:nvSpPr>
          <p:cNvPr id="92" name="Text 9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Verilog FSM · Nexys FPGA · Patient Dispatch Controller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10881360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9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463040" cy="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463040" y="822960"/>
            <a:ext cx="0" cy="45720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1399032" y="1216152"/>
            <a:ext cx="128016" cy="128016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10607040" y="5989320"/>
            <a:ext cx="1554480" cy="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10607040" y="5532120"/>
            <a:ext cx="0" cy="45720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10543032" y="5468112"/>
            <a:ext cx="128016" cy="128016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548640" y="457200"/>
            <a:ext cx="310896" cy="310896"/>
          </a:xfrm>
          <a:prstGeom prst="ellipse">
            <a:avLst/>
          </a:prstGeom>
          <a:solidFill>
            <a:srgbClr val="FBBF24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1005840" y="31089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5 — SELECTIVE PATIENT RELEASE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86968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FPGA HOSPITAL DISPATCHER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69680" y="6035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05 / 09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875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548640" y="1371600"/>
            <a:ext cx="5212080" cy="786384"/>
          </a:xfrm>
          <a:prstGeom prst="rect">
            <a:avLst/>
          </a:prstGeom>
          <a:solidFill>
            <a:srgbClr val="112744"/>
          </a:solidFill>
          <a:ln w="12700">
            <a:solidFill>
              <a:srgbClr val="EF4444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548640" y="1371600"/>
            <a:ext cx="82296" cy="78638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713232" y="1536192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713232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145389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Patients Parked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25880" y="18105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Room1 · Room2 · Room3 busy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54680" y="2176272"/>
            <a:ext cx="0" cy="146304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548640" y="2340864"/>
            <a:ext cx="5212080" cy="786384"/>
          </a:xfrm>
          <a:prstGeom prst="rect">
            <a:avLst/>
          </a:prstGeom>
          <a:solidFill>
            <a:srgbClr val="112744"/>
          </a:solidFill>
          <a:ln w="12700">
            <a:solidFill>
              <a:srgbClr val="FBBF24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1" name="Shape 19"/>
          <p:cNvSpPr/>
          <p:nvPr/>
        </p:nvSpPr>
        <p:spPr>
          <a:xfrm>
            <a:off x="548640" y="2340864"/>
            <a:ext cx="82296" cy="786384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Shape 20"/>
          <p:cNvSpPr/>
          <p:nvPr/>
        </p:nvSpPr>
        <p:spPr>
          <a:xfrm>
            <a:off x="713232" y="2505456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713232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24231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Slot 2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325880" y="277977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SW[1:0] = 01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54680" y="3145536"/>
            <a:ext cx="0" cy="146304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27" name="Shape 25"/>
          <p:cNvSpPr/>
          <p:nvPr/>
        </p:nvSpPr>
        <p:spPr>
          <a:xfrm>
            <a:off x="548640" y="3310128"/>
            <a:ext cx="5212080" cy="786384"/>
          </a:xfrm>
          <a:prstGeom prst="rect">
            <a:avLst/>
          </a:prstGeom>
          <a:solidFill>
            <a:srgbClr val="112744"/>
          </a:solidFill>
          <a:ln w="12700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8" name="Shape 26"/>
          <p:cNvSpPr/>
          <p:nvPr/>
        </p:nvSpPr>
        <p:spPr>
          <a:xfrm>
            <a:off x="548640" y="3310128"/>
            <a:ext cx="82296" cy="78638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713232" y="347472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713232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25880" y="339242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 BTND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325880" y="37490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the release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54680" y="4114800"/>
            <a:ext cx="0" cy="146304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34" name="Shape 32"/>
          <p:cNvSpPr/>
          <p:nvPr/>
        </p:nvSpPr>
        <p:spPr>
          <a:xfrm>
            <a:off x="548640" y="4279392"/>
            <a:ext cx="5212080" cy="786384"/>
          </a:xfrm>
          <a:prstGeom prst="rect">
            <a:avLst/>
          </a:prstGeom>
          <a:solidFill>
            <a:srgbClr val="112744"/>
          </a:solidFill>
          <a:ln w="12700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5" name="Shape 33"/>
          <p:cNvSpPr/>
          <p:nvPr/>
        </p:nvSpPr>
        <p:spPr>
          <a:xfrm>
            <a:off x="548640" y="4279392"/>
            <a:ext cx="82296" cy="78638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6" name="Shape 34"/>
          <p:cNvSpPr/>
          <p:nvPr/>
        </p:nvSpPr>
        <p:spPr>
          <a:xfrm>
            <a:off x="713232" y="4443984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7" name="Text 35"/>
          <p:cNvSpPr/>
          <p:nvPr/>
        </p:nvSpPr>
        <p:spPr>
          <a:xfrm>
            <a:off x="713232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325880" y="436168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 BTNC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325880" y="471830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release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54680" y="5084064"/>
            <a:ext cx="0" cy="146304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41" name="Shape 39"/>
          <p:cNvSpPr/>
          <p:nvPr/>
        </p:nvSpPr>
        <p:spPr>
          <a:xfrm>
            <a:off x="548640" y="5248656"/>
            <a:ext cx="5212080" cy="786384"/>
          </a:xfrm>
          <a:prstGeom prst="rect">
            <a:avLst/>
          </a:prstGeom>
          <a:solidFill>
            <a:srgbClr val="112744"/>
          </a:solidFill>
          <a:ln w="12700">
            <a:solidFill>
              <a:srgbClr val="22C55E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2" name="Shape 40"/>
          <p:cNvSpPr/>
          <p:nvPr/>
        </p:nvSpPr>
        <p:spPr>
          <a:xfrm>
            <a:off x="548640" y="5248656"/>
            <a:ext cx="82296" cy="78638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3" name="Shape 41"/>
          <p:cNvSpPr/>
          <p:nvPr/>
        </p:nvSpPr>
        <p:spPr>
          <a:xfrm>
            <a:off x="713232" y="5413248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4" name="Text 42"/>
          <p:cNvSpPr/>
          <p:nvPr/>
        </p:nvSpPr>
        <p:spPr>
          <a:xfrm>
            <a:off x="713232" y="5413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325880" y="533095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 Patient 2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325880" y="56875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LED1 · LED5 · LED9 turn OFF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26480" y="1371600"/>
            <a:ext cx="5486400" cy="4846320"/>
          </a:xfrm>
          <a:prstGeom prst="rect">
            <a:avLst/>
          </a:prstGeom>
          <a:solidFill>
            <a:srgbClr val="0B1F3D"/>
          </a:solidFill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8" name="Text 46"/>
          <p:cNvSpPr/>
          <p:nvPr/>
        </p:nvSpPr>
        <p:spPr>
          <a:xfrm>
            <a:off x="6355080" y="151790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STATE AFTER RELEASE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355080" y="1938528"/>
            <a:ext cx="5029200" cy="676656"/>
          </a:xfrm>
          <a:prstGeom prst="rect">
            <a:avLst/>
          </a:prstGeom>
          <a:solidFill>
            <a:srgbClr val="112744"/>
          </a:solidFill>
          <a:ln w="1587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0" name="Shape 48"/>
          <p:cNvSpPr/>
          <p:nvPr/>
        </p:nvSpPr>
        <p:spPr>
          <a:xfrm>
            <a:off x="6537960" y="2148840"/>
            <a:ext cx="256032" cy="256032"/>
          </a:xfrm>
          <a:prstGeom prst="ellipse">
            <a:avLst/>
          </a:prstGeom>
          <a:solidFill>
            <a:srgbClr val="EF444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1" name="Text 49"/>
          <p:cNvSpPr/>
          <p:nvPr/>
        </p:nvSpPr>
        <p:spPr>
          <a:xfrm>
            <a:off x="6949440" y="1938528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1 · Room1 / Doctor1 / Eq1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012680" y="1938528"/>
            <a:ext cx="1280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355080" y="2779776"/>
            <a:ext cx="5029200" cy="676656"/>
          </a:xfrm>
          <a:prstGeom prst="rect">
            <a:avLst/>
          </a:prstGeom>
          <a:solidFill>
            <a:srgbClr val="112744"/>
          </a:solidFill>
          <a:ln w="1587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4" name="Shape 52"/>
          <p:cNvSpPr/>
          <p:nvPr/>
        </p:nvSpPr>
        <p:spPr>
          <a:xfrm>
            <a:off x="6537960" y="2990088"/>
            <a:ext cx="256032" cy="256032"/>
          </a:xfrm>
          <a:prstGeom prst="ellipse">
            <a:avLst/>
          </a:prstGeom>
          <a:solidFill>
            <a:srgbClr val="22C55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5" name="Text 53"/>
          <p:cNvSpPr/>
          <p:nvPr/>
        </p:nvSpPr>
        <p:spPr>
          <a:xfrm>
            <a:off x="6949440" y="2779776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2 · Room2 / Doctor2 / Eq2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012680" y="2779776"/>
            <a:ext cx="1280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RELEASED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355080" y="3621024"/>
            <a:ext cx="5029200" cy="676656"/>
          </a:xfrm>
          <a:prstGeom prst="rect">
            <a:avLst/>
          </a:prstGeom>
          <a:solidFill>
            <a:srgbClr val="112744"/>
          </a:solidFill>
          <a:ln w="1587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8" name="Shape 56"/>
          <p:cNvSpPr/>
          <p:nvPr/>
        </p:nvSpPr>
        <p:spPr>
          <a:xfrm>
            <a:off x="6537960" y="3831336"/>
            <a:ext cx="256032" cy="256032"/>
          </a:xfrm>
          <a:prstGeom prst="ellipse">
            <a:avLst/>
          </a:prstGeom>
          <a:solidFill>
            <a:srgbClr val="EF444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9" name="Text 57"/>
          <p:cNvSpPr/>
          <p:nvPr/>
        </p:nvSpPr>
        <p:spPr>
          <a:xfrm>
            <a:off x="6949440" y="3621024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3 · Room3 / Doctor3 / Eq3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0012680" y="3621024"/>
            <a:ext cx="1280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355080" y="4572000"/>
            <a:ext cx="5029200" cy="1463040"/>
          </a:xfrm>
          <a:prstGeom prst="rect">
            <a:avLst/>
          </a:prstGeom>
          <a:solidFill>
            <a:srgbClr val="0E2A1C"/>
          </a:solidFill>
          <a:ln w="1587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2" name="Text 60"/>
          <p:cNvSpPr/>
          <p:nvPr/>
        </p:nvSpPr>
        <p:spPr>
          <a:xfrm>
            <a:off x="6537960" y="46817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 2 RESOURCES NOW FREE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675120" y="502920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2  →  Available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675120" y="535838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 2  →  Available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675120" y="568756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 2  →  Available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Verilog FSM · Nexys FPGA · Patient Dispatch Controller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10881360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9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463040" cy="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463040" y="822960"/>
            <a:ext cx="0" cy="45720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1399032" y="1216152"/>
            <a:ext cx="128016" cy="128016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10607040" y="5989320"/>
            <a:ext cx="1554480" cy="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10607040" y="5532120"/>
            <a:ext cx="0" cy="45720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10543032" y="5468112"/>
            <a:ext cx="128016" cy="128016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548640" y="457200"/>
            <a:ext cx="310896" cy="310896"/>
          </a:xfrm>
          <a:prstGeom prst="ellipse">
            <a:avLst/>
          </a:prstGeom>
          <a:solidFill>
            <a:srgbClr val="F59E0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1005840" y="31089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6 — NO RESOURCES AVAILABLE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86968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FPGA HOSPITAL DISPATCHER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69680" y="6035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06 / 09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875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548640" y="1371600"/>
            <a:ext cx="5486400" cy="713232"/>
          </a:xfrm>
          <a:prstGeom prst="rect">
            <a:avLst/>
          </a:prstGeom>
          <a:solidFill>
            <a:srgbClr val="112744"/>
          </a:solidFill>
          <a:ln w="12700">
            <a:solidFill>
              <a:srgbClr val="EF4444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548640" y="1371600"/>
            <a:ext cx="82296" cy="71323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713232" y="1499616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713232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145389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Rooms 1–4 Occupied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25880" y="1737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rooms busy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91840" y="2103120"/>
            <a:ext cx="0" cy="57912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548640" y="2179320"/>
            <a:ext cx="5486400" cy="713232"/>
          </a:xfrm>
          <a:prstGeom prst="rect">
            <a:avLst/>
          </a:prstGeom>
          <a:solidFill>
            <a:srgbClr val="112744"/>
          </a:solidFill>
          <a:ln w="12700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1" name="Shape 19"/>
          <p:cNvSpPr/>
          <p:nvPr/>
        </p:nvSpPr>
        <p:spPr>
          <a:xfrm>
            <a:off x="548640" y="2179320"/>
            <a:ext cx="82296" cy="71323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Shape 20"/>
          <p:cNvSpPr/>
          <p:nvPr/>
        </p:nvSpPr>
        <p:spPr>
          <a:xfrm>
            <a:off x="713232" y="2307336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713232" y="2307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226161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Fifth Patient Arrives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325880" y="2545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the queue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91840" y="2910840"/>
            <a:ext cx="0" cy="57912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27" name="Shape 25"/>
          <p:cNvSpPr/>
          <p:nvPr/>
        </p:nvSpPr>
        <p:spPr>
          <a:xfrm>
            <a:off x="548640" y="2987040"/>
            <a:ext cx="5486400" cy="713232"/>
          </a:xfrm>
          <a:prstGeom prst="rect">
            <a:avLst/>
          </a:prstGeom>
          <a:solidFill>
            <a:srgbClr val="112744"/>
          </a:solidFill>
          <a:ln w="12700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8" name="Shape 26"/>
          <p:cNvSpPr/>
          <p:nvPr/>
        </p:nvSpPr>
        <p:spPr>
          <a:xfrm>
            <a:off x="548640" y="2987040"/>
            <a:ext cx="82296" cy="71323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713232" y="3115056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713232" y="3115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25880" y="306933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Resources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325880" y="3352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availability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91840" y="3718560"/>
            <a:ext cx="0" cy="57912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34" name="Shape 32"/>
          <p:cNvSpPr/>
          <p:nvPr/>
        </p:nvSpPr>
        <p:spPr>
          <a:xfrm>
            <a:off x="548640" y="3794760"/>
            <a:ext cx="5486400" cy="713232"/>
          </a:xfrm>
          <a:prstGeom prst="rect">
            <a:avLst/>
          </a:prstGeom>
          <a:solidFill>
            <a:srgbClr val="112744"/>
          </a:solidFill>
          <a:ln w="12700">
            <a:solidFill>
              <a:srgbClr val="F59E0B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5" name="Shape 33"/>
          <p:cNvSpPr/>
          <p:nvPr/>
        </p:nvSpPr>
        <p:spPr>
          <a:xfrm>
            <a:off x="548640" y="3794760"/>
            <a:ext cx="82296" cy="7132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6" name="Shape 34"/>
          <p:cNvSpPr/>
          <p:nvPr/>
        </p:nvSpPr>
        <p:spPr>
          <a:xfrm>
            <a:off x="713232" y="3922776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7" name="Text 35"/>
          <p:cNvSpPr/>
          <p:nvPr/>
        </p:nvSpPr>
        <p:spPr>
          <a:xfrm>
            <a:off x="713232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325880" y="387705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Rooms Available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325880" y="4160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fails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91840" y="4526280"/>
            <a:ext cx="0" cy="57912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41" name="Shape 39"/>
          <p:cNvSpPr/>
          <p:nvPr/>
        </p:nvSpPr>
        <p:spPr>
          <a:xfrm>
            <a:off x="548640" y="4602480"/>
            <a:ext cx="5486400" cy="713232"/>
          </a:xfrm>
          <a:prstGeom prst="rect">
            <a:avLst/>
          </a:prstGeom>
          <a:solidFill>
            <a:srgbClr val="112744"/>
          </a:solidFill>
          <a:ln w="12700">
            <a:solidFill>
              <a:srgbClr val="EF4444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2" name="Shape 40"/>
          <p:cNvSpPr/>
          <p:nvPr/>
        </p:nvSpPr>
        <p:spPr>
          <a:xfrm>
            <a:off x="548640" y="4602480"/>
            <a:ext cx="82296" cy="71323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3" name="Shape 41"/>
          <p:cNvSpPr/>
          <p:nvPr/>
        </p:nvSpPr>
        <p:spPr>
          <a:xfrm>
            <a:off x="713232" y="4730496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4" name="Text 42"/>
          <p:cNvSpPr/>
          <p:nvPr/>
        </p:nvSpPr>
        <p:spPr>
          <a:xfrm>
            <a:off x="713232" y="4730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325880" y="468477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 Enters FAULT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325880" y="4968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shakes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91840" y="5334000"/>
            <a:ext cx="0" cy="57912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48" name="Shape 46"/>
          <p:cNvSpPr/>
          <p:nvPr/>
        </p:nvSpPr>
        <p:spPr>
          <a:xfrm>
            <a:off x="548640" y="5410200"/>
            <a:ext cx="5486400" cy="713232"/>
          </a:xfrm>
          <a:prstGeom prst="rect">
            <a:avLst/>
          </a:prstGeom>
          <a:solidFill>
            <a:srgbClr val="112744"/>
          </a:solidFill>
          <a:ln w="12700">
            <a:solidFill>
              <a:srgbClr val="EF4444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9" name="Shape 47"/>
          <p:cNvSpPr/>
          <p:nvPr/>
        </p:nvSpPr>
        <p:spPr>
          <a:xfrm>
            <a:off x="548640" y="5410200"/>
            <a:ext cx="82296" cy="71323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0" name="Shape 48"/>
          <p:cNvSpPr/>
          <p:nvPr/>
        </p:nvSpPr>
        <p:spPr>
          <a:xfrm>
            <a:off x="713232" y="5538216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1" name="Text 49"/>
          <p:cNvSpPr/>
          <p:nvPr/>
        </p:nvSpPr>
        <p:spPr>
          <a:xfrm>
            <a:off x="713232" y="5538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325880" y="549249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Locked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1325880" y="5775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LED14 ON · LED15 blinking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400800" y="1371600"/>
            <a:ext cx="5212080" cy="1371600"/>
          </a:xfrm>
          <a:prstGeom prst="rect">
            <a:avLst/>
          </a:prstGeom>
          <a:solidFill>
            <a:srgbClr val="0B1F3D"/>
          </a:solidFill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5" name="Text 53"/>
          <p:cNvSpPr/>
          <p:nvPr/>
        </p:nvSpPr>
        <p:spPr>
          <a:xfrm>
            <a:off x="6583680" y="148132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OCCUPANCY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629400" y="1865376"/>
            <a:ext cx="1078992" cy="749808"/>
          </a:xfrm>
          <a:prstGeom prst="rect">
            <a:avLst/>
          </a:prstGeom>
          <a:solidFill>
            <a:srgbClr val="3B0F14"/>
          </a:solidFill>
          <a:ln w="1587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7" name="Text 55"/>
          <p:cNvSpPr/>
          <p:nvPr/>
        </p:nvSpPr>
        <p:spPr>
          <a:xfrm>
            <a:off x="6629400" y="18653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629400" y="224942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BUSY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854696" y="1865376"/>
            <a:ext cx="1078992" cy="749808"/>
          </a:xfrm>
          <a:prstGeom prst="rect">
            <a:avLst/>
          </a:prstGeom>
          <a:solidFill>
            <a:srgbClr val="3B0F14"/>
          </a:solidFill>
          <a:ln w="1587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0" name="Text 58"/>
          <p:cNvSpPr/>
          <p:nvPr/>
        </p:nvSpPr>
        <p:spPr>
          <a:xfrm>
            <a:off x="7854696" y="18653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2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854696" y="224942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BUSY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079992" y="1865376"/>
            <a:ext cx="1078992" cy="749808"/>
          </a:xfrm>
          <a:prstGeom prst="rect">
            <a:avLst/>
          </a:prstGeom>
          <a:solidFill>
            <a:srgbClr val="3B0F14"/>
          </a:solidFill>
          <a:ln w="1587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3" name="Text 61"/>
          <p:cNvSpPr/>
          <p:nvPr/>
        </p:nvSpPr>
        <p:spPr>
          <a:xfrm>
            <a:off x="9079992" y="18653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3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9079992" y="224942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BUSY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0305288" y="1865376"/>
            <a:ext cx="1078992" cy="749808"/>
          </a:xfrm>
          <a:prstGeom prst="rect">
            <a:avLst/>
          </a:prstGeom>
          <a:solidFill>
            <a:srgbClr val="3B0F14"/>
          </a:solidFill>
          <a:ln w="1587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6" name="Text 64"/>
          <p:cNvSpPr/>
          <p:nvPr/>
        </p:nvSpPr>
        <p:spPr>
          <a:xfrm>
            <a:off x="10305288" y="186537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4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0305288" y="224942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BUSY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400800" y="2926080"/>
            <a:ext cx="5212080" cy="2194560"/>
          </a:xfrm>
          <a:prstGeom prst="rect">
            <a:avLst/>
          </a:prstGeom>
          <a:solidFill>
            <a:srgbClr val="3B0F14"/>
          </a:solidFill>
          <a:ln w="31750">
            <a:solidFill>
              <a:srgbClr val="EF4444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9" name="Text 67"/>
          <p:cNvSpPr/>
          <p:nvPr/>
        </p:nvSpPr>
        <p:spPr>
          <a:xfrm>
            <a:off x="6400800" y="3108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FAULT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583680" y="36118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RESOURCES AVAILABLE</a:t>
            </a:r>
            <a:endParaRPr lang="en-US" sz="2200" dirty="0"/>
          </a:p>
        </p:txBody>
      </p:sp>
      <p:sp>
        <p:nvSpPr>
          <p:cNvPr id="71" name="Text 69"/>
          <p:cNvSpPr/>
          <p:nvPr/>
        </p:nvSpPr>
        <p:spPr>
          <a:xfrm>
            <a:off x="6400800" y="429768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 state: FAULT — system locked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7452360" y="4681728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3" name="Shape 71"/>
          <p:cNvSpPr/>
          <p:nvPr/>
        </p:nvSpPr>
        <p:spPr>
          <a:xfrm>
            <a:off x="7406640" y="4636008"/>
            <a:ext cx="329184" cy="329184"/>
          </a:xfrm>
          <a:prstGeom prst="ellipse">
            <a:avLst/>
          </a:prstGeom>
          <a:solidFill>
            <a:srgbClr val="EF4444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4" name="Text 72"/>
          <p:cNvSpPr/>
          <p:nvPr/>
        </p:nvSpPr>
        <p:spPr>
          <a:xfrm>
            <a:off x="7763256" y="464515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LED14  ON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9464040" y="468172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6" name="Shape 74"/>
          <p:cNvSpPr/>
          <p:nvPr/>
        </p:nvSpPr>
        <p:spPr>
          <a:xfrm>
            <a:off x="9418320" y="4636008"/>
            <a:ext cx="329184" cy="329184"/>
          </a:xfrm>
          <a:prstGeom prst="ellipse">
            <a:avLst/>
          </a:prstGeom>
          <a:solidFill>
            <a:srgbClr val="F59E0B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7" name="Text 75"/>
          <p:cNvSpPr/>
          <p:nvPr/>
        </p:nvSpPr>
        <p:spPr>
          <a:xfrm>
            <a:off x="9774936" y="464515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LED15  BLINK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6400800" y="52852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 effect: large warning overlay + screen shake.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Verilog FSM · Nexys FPGA · Patient Dispatch Controller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10881360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9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463040" cy="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463040" y="822960"/>
            <a:ext cx="0" cy="45720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1399032" y="1216152"/>
            <a:ext cx="128016" cy="128016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10607040" y="5989320"/>
            <a:ext cx="1554480" cy="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10607040" y="5532120"/>
            <a:ext cx="0" cy="45720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10543032" y="5468112"/>
            <a:ext cx="128016" cy="128016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548640" y="457200"/>
            <a:ext cx="310896" cy="310896"/>
          </a:xfrm>
          <a:prstGeom prst="ellipse">
            <a:avLst/>
          </a:prstGeom>
          <a:solidFill>
            <a:srgbClr val="38BDF8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1005840" y="31089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7 — FULL SYSTEM RESET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86968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FPGA HOSPITAL DISPATCHER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69680" y="6035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07 / 09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875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548640" y="1463040"/>
            <a:ext cx="3749040" cy="4572000"/>
          </a:xfrm>
          <a:prstGeom prst="rect">
            <a:avLst/>
          </a:prstGeom>
          <a:solidFill>
            <a:srgbClr val="0B1F3D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731520" y="159105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— FAULT STATE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2011680"/>
            <a:ext cx="3291840" cy="548640"/>
          </a:xfrm>
          <a:prstGeom prst="rect">
            <a:avLst/>
          </a:prstGeom>
          <a:solidFill>
            <a:srgbClr val="3B0F1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960120" y="2157984"/>
            <a:ext cx="256032" cy="256032"/>
          </a:xfrm>
          <a:prstGeom prst="ellipse">
            <a:avLst/>
          </a:prstGeom>
          <a:solidFill>
            <a:srgbClr val="EF444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1371600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 = FAULT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2724912"/>
            <a:ext cx="3291840" cy="548640"/>
          </a:xfrm>
          <a:prstGeom prst="rect">
            <a:avLst/>
          </a:prstGeom>
          <a:solidFill>
            <a:srgbClr val="3B0F1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960120" y="2871216"/>
            <a:ext cx="256032" cy="256032"/>
          </a:xfrm>
          <a:prstGeom prst="ellipse">
            <a:avLst/>
          </a:prstGeom>
          <a:solidFill>
            <a:srgbClr val="EF444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1371600" y="27249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Alarm Active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3438144"/>
            <a:ext cx="3291840" cy="548640"/>
          </a:xfrm>
          <a:prstGeom prst="rect">
            <a:avLst/>
          </a:prstGeom>
          <a:solidFill>
            <a:srgbClr val="3B0F1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Shape 20"/>
          <p:cNvSpPr/>
          <p:nvPr/>
        </p:nvSpPr>
        <p:spPr>
          <a:xfrm>
            <a:off x="960120" y="3584448"/>
            <a:ext cx="256032" cy="256032"/>
          </a:xfrm>
          <a:prstGeom prst="ellipse">
            <a:avLst/>
          </a:prstGeom>
          <a:solidFill>
            <a:srgbClr val="EF444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1371600" y="34381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 Busy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4151376"/>
            <a:ext cx="3291840" cy="548640"/>
          </a:xfrm>
          <a:prstGeom prst="rect">
            <a:avLst/>
          </a:prstGeom>
          <a:solidFill>
            <a:srgbClr val="3B0F1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Shape 23"/>
          <p:cNvSpPr/>
          <p:nvPr/>
        </p:nvSpPr>
        <p:spPr>
          <a:xfrm>
            <a:off x="960120" y="4297680"/>
            <a:ext cx="256032" cy="256032"/>
          </a:xfrm>
          <a:prstGeom prst="ellipse">
            <a:avLst/>
          </a:prstGeom>
          <a:solidFill>
            <a:srgbClr val="EF444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Text 24"/>
          <p:cNvSpPr/>
          <p:nvPr/>
        </p:nvSpPr>
        <p:spPr>
          <a:xfrm>
            <a:off x="1371600" y="41513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LEDs Lit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2743200"/>
            <a:ext cx="2286000" cy="1371600"/>
          </a:xfrm>
          <a:prstGeom prst="rect">
            <a:avLst/>
          </a:prstGeom>
          <a:solidFill>
            <a:srgbClr val="112744"/>
          </a:solidFill>
          <a:ln w="25400">
            <a:solidFill>
              <a:srgbClr val="FBBF24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8" name="Text 26"/>
          <p:cNvSpPr/>
          <p:nvPr/>
        </p:nvSpPr>
        <p:spPr>
          <a:xfrm>
            <a:off x="4937760" y="29077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CPU_RESETN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4343400" y="3429000"/>
            <a:ext cx="548640" cy="0"/>
          </a:xfrm>
          <a:prstGeom prst="line">
            <a:avLst/>
          </a:prstGeom>
          <a:noFill/>
          <a:ln w="3175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31" name="Shape 29"/>
          <p:cNvSpPr/>
          <p:nvPr/>
        </p:nvSpPr>
        <p:spPr>
          <a:xfrm>
            <a:off x="7223760" y="3429000"/>
            <a:ext cx="548640" cy="0"/>
          </a:xfrm>
          <a:prstGeom prst="line">
            <a:avLst/>
          </a:prstGeom>
          <a:noFill/>
          <a:ln w="31750">
            <a:solidFill>
              <a:srgbClr val="22C55E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32" name="Text 30"/>
          <p:cNvSpPr/>
          <p:nvPr/>
        </p:nvSpPr>
        <p:spPr>
          <a:xfrm>
            <a:off x="4663440" y="4251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 all registers, frees rooms / doctors / equipment, clears LEDs.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63840" y="1463040"/>
            <a:ext cx="3749040" cy="4572000"/>
          </a:xfrm>
          <a:prstGeom prst="rect">
            <a:avLst/>
          </a:prstGeom>
          <a:solidFill>
            <a:srgbClr val="0B1F3D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4" name="Text 32"/>
          <p:cNvSpPr/>
          <p:nvPr/>
        </p:nvSpPr>
        <p:spPr>
          <a:xfrm>
            <a:off x="8046720" y="159105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— READY STATE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92440" y="2011680"/>
            <a:ext cx="3291840" cy="548640"/>
          </a:xfrm>
          <a:prstGeom prst="rect">
            <a:avLst/>
          </a:prstGeom>
          <a:solidFill>
            <a:srgbClr val="0E2A1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6" name="Shape 34"/>
          <p:cNvSpPr/>
          <p:nvPr/>
        </p:nvSpPr>
        <p:spPr>
          <a:xfrm>
            <a:off x="8275320" y="2157984"/>
            <a:ext cx="256032" cy="256032"/>
          </a:xfrm>
          <a:prstGeom prst="ellipse">
            <a:avLst/>
          </a:prstGeom>
          <a:solidFill>
            <a:srgbClr val="22C55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7" name="Text 35"/>
          <p:cNvSpPr/>
          <p:nvPr/>
        </p:nvSpPr>
        <p:spPr>
          <a:xfrm>
            <a:off x="8686800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LEDs OFF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092440" y="2724912"/>
            <a:ext cx="3291840" cy="548640"/>
          </a:xfrm>
          <a:prstGeom prst="rect">
            <a:avLst/>
          </a:prstGeom>
          <a:solidFill>
            <a:srgbClr val="0E2A1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9" name="Shape 37"/>
          <p:cNvSpPr/>
          <p:nvPr/>
        </p:nvSpPr>
        <p:spPr>
          <a:xfrm>
            <a:off x="8275320" y="2871216"/>
            <a:ext cx="256032" cy="256032"/>
          </a:xfrm>
          <a:prstGeom prst="ellipse">
            <a:avLst/>
          </a:prstGeom>
          <a:solidFill>
            <a:srgbClr val="22C55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0" name="Text 38"/>
          <p:cNvSpPr/>
          <p:nvPr/>
        </p:nvSpPr>
        <p:spPr>
          <a:xfrm>
            <a:off x="8686800" y="27249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Rooms Freed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92440" y="3438144"/>
            <a:ext cx="3291840" cy="548640"/>
          </a:xfrm>
          <a:prstGeom prst="rect">
            <a:avLst/>
          </a:prstGeom>
          <a:solidFill>
            <a:srgbClr val="0E2A1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2" name="Shape 40"/>
          <p:cNvSpPr/>
          <p:nvPr/>
        </p:nvSpPr>
        <p:spPr>
          <a:xfrm>
            <a:off x="8275320" y="3584448"/>
            <a:ext cx="256032" cy="256032"/>
          </a:xfrm>
          <a:prstGeom prst="ellipse">
            <a:avLst/>
          </a:prstGeom>
          <a:solidFill>
            <a:srgbClr val="22C55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3" name="Text 41"/>
          <p:cNvSpPr/>
          <p:nvPr/>
        </p:nvSpPr>
        <p:spPr>
          <a:xfrm>
            <a:off x="8686800" y="34381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Doctors Freed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092440" y="4151376"/>
            <a:ext cx="3291840" cy="548640"/>
          </a:xfrm>
          <a:prstGeom prst="rect">
            <a:avLst/>
          </a:prstGeom>
          <a:solidFill>
            <a:srgbClr val="0E2A1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5" name="Shape 43"/>
          <p:cNvSpPr/>
          <p:nvPr/>
        </p:nvSpPr>
        <p:spPr>
          <a:xfrm>
            <a:off x="8275320" y="4297680"/>
            <a:ext cx="256032" cy="256032"/>
          </a:xfrm>
          <a:prstGeom prst="ellipse">
            <a:avLst/>
          </a:prstGeom>
          <a:solidFill>
            <a:srgbClr val="22C55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6" name="Text 44"/>
          <p:cNvSpPr/>
          <p:nvPr/>
        </p:nvSpPr>
        <p:spPr>
          <a:xfrm>
            <a:off x="8686800" y="41513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 Freed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092440" y="4937760"/>
            <a:ext cx="3291840" cy="914400"/>
          </a:xfrm>
          <a:prstGeom prst="rect">
            <a:avLst/>
          </a:prstGeom>
          <a:solidFill>
            <a:srgbClr val="112744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8" name="Text 46"/>
          <p:cNvSpPr/>
          <p:nvPr/>
        </p:nvSpPr>
        <p:spPr>
          <a:xfrm>
            <a:off x="8092440" y="5029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 → IDLE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092440" y="54132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Ready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Verilog FSM · Nexys FPGA · Patient Dispatch Controller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0881360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9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463040" cy="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463040" y="822960"/>
            <a:ext cx="0" cy="45720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1399032" y="1216152"/>
            <a:ext cx="128016" cy="128016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10607040" y="5989320"/>
            <a:ext cx="1554480" cy="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10607040" y="5532120"/>
            <a:ext cx="0" cy="457200"/>
          </a:xfrm>
          <a:prstGeom prst="line">
            <a:avLst/>
          </a:prstGeom>
          <a:noFill/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10543032" y="5468112"/>
            <a:ext cx="128016" cy="128016"/>
          </a:xfrm>
          <a:prstGeom prst="ellipse">
            <a:avLst/>
          </a:prstGeom>
          <a:solidFill>
            <a:srgbClr val="164E6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548640" y="457200"/>
            <a:ext cx="310896" cy="310896"/>
          </a:xfrm>
          <a:prstGeom prst="ellipse">
            <a:avLst/>
          </a:prstGeom>
          <a:solidFill>
            <a:srgbClr val="FB7185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1005840" y="31089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EMERGENCY OVERRIDE (BTNR)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86968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FPGA HOSPITAL DISPATCHER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69680" y="6035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03 / 09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875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548640" y="1298448"/>
            <a:ext cx="11064240" cy="566928"/>
          </a:xfrm>
          <a:prstGeom prst="rect">
            <a:avLst/>
          </a:prstGeom>
          <a:solidFill>
            <a:srgbClr val="0E3050"/>
          </a:solidFill>
          <a:ln w="12700">
            <a:solidFill>
              <a:srgbClr val="1C4D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731520" y="12984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STORY: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patient suddenly becomes critical — the doctor forces an override.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121408"/>
            <a:ext cx="3566160" cy="749808"/>
          </a:xfrm>
          <a:prstGeom prst="rect">
            <a:avLst/>
          </a:prstGeom>
          <a:solidFill>
            <a:srgbClr val="112744"/>
          </a:solidFill>
          <a:ln w="12700">
            <a:solidFill>
              <a:srgbClr val="9FB3C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548640" y="2121408"/>
            <a:ext cx="82296" cy="749808"/>
          </a:xfrm>
          <a:prstGeom prst="rect">
            <a:avLst/>
          </a:prstGeom>
          <a:solidFill>
            <a:srgbClr val="9FB3C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713232" y="2267712"/>
            <a:ext cx="457200" cy="457200"/>
          </a:xfrm>
          <a:prstGeom prst="ellipse">
            <a:avLst/>
          </a:prstGeom>
          <a:solidFill>
            <a:srgbClr val="9FB3C8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713232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22037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 Patient Enters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25880" y="25237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= Normal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331720" y="2889504"/>
            <a:ext cx="0" cy="54864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22" name="Shape 20"/>
          <p:cNvSpPr/>
          <p:nvPr/>
        </p:nvSpPr>
        <p:spPr>
          <a:xfrm>
            <a:off x="548640" y="2962656"/>
            <a:ext cx="3566160" cy="749808"/>
          </a:xfrm>
          <a:prstGeom prst="rect">
            <a:avLst/>
          </a:prstGeom>
          <a:solidFill>
            <a:srgbClr val="112744"/>
          </a:solidFill>
          <a:ln w="12700">
            <a:solidFill>
              <a:srgbClr val="FBBF24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3" name="Shape 21"/>
          <p:cNvSpPr/>
          <p:nvPr/>
        </p:nvSpPr>
        <p:spPr>
          <a:xfrm>
            <a:off x="548640" y="2962656"/>
            <a:ext cx="82296" cy="74980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Shape 22"/>
          <p:cNvSpPr/>
          <p:nvPr/>
        </p:nvSpPr>
        <p:spPr>
          <a:xfrm>
            <a:off x="713232" y="3108960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713232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25880" y="30449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 Presses BTNR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325880" y="33649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override pressed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331720" y="3730752"/>
            <a:ext cx="0" cy="54864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548640" y="3803904"/>
            <a:ext cx="3566160" cy="749808"/>
          </a:xfrm>
          <a:prstGeom prst="rect">
            <a:avLst/>
          </a:prstGeom>
          <a:solidFill>
            <a:srgbClr val="112744"/>
          </a:solidFill>
          <a:ln w="12700">
            <a:solidFill>
              <a:srgbClr val="FB7185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0" name="Shape 28"/>
          <p:cNvSpPr/>
          <p:nvPr/>
        </p:nvSpPr>
        <p:spPr>
          <a:xfrm>
            <a:off x="548640" y="3803904"/>
            <a:ext cx="82296" cy="749808"/>
          </a:xfrm>
          <a:prstGeom prst="rect">
            <a:avLst/>
          </a:prstGeom>
          <a:solidFill>
            <a:srgbClr val="FB718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1" name="Shape 29"/>
          <p:cNvSpPr/>
          <p:nvPr/>
        </p:nvSpPr>
        <p:spPr>
          <a:xfrm>
            <a:off x="713232" y="3950208"/>
            <a:ext cx="457200" cy="4572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2" name="Text 30"/>
          <p:cNvSpPr/>
          <p:nvPr/>
        </p:nvSpPr>
        <p:spPr>
          <a:xfrm>
            <a:off x="713232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325880" y="38862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Forces Critical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325880" y="42062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emergency symbol appears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331720" y="4572000"/>
            <a:ext cx="0" cy="54864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36" name="Shape 34"/>
          <p:cNvSpPr/>
          <p:nvPr/>
        </p:nvSpPr>
        <p:spPr>
          <a:xfrm>
            <a:off x="548640" y="4645152"/>
            <a:ext cx="3566160" cy="749808"/>
          </a:xfrm>
          <a:prstGeom prst="rect">
            <a:avLst/>
          </a:prstGeom>
          <a:solidFill>
            <a:srgbClr val="112744"/>
          </a:solidFill>
          <a:ln w="12700">
            <a:solidFill>
              <a:srgbClr val="EF4444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7" name="Shape 35"/>
          <p:cNvSpPr/>
          <p:nvPr/>
        </p:nvSpPr>
        <p:spPr>
          <a:xfrm>
            <a:off x="548640" y="4645152"/>
            <a:ext cx="82296" cy="7498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8" name="Shape 36"/>
          <p:cNvSpPr/>
          <p:nvPr/>
        </p:nvSpPr>
        <p:spPr>
          <a:xfrm>
            <a:off x="713232" y="4791456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9" name="Text 37"/>
          <p:cNvSpPr/>
          <p:nvPr/>
        </p:nvSpPr>
        <p:spPr>
          <a:xfrm>
            <a:off x="713232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325880" y="47274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LED12 ON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325880" y="50474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indicator active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331720" y="5413248"/>
            <a:ext cx="0" cy="54864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43" name="Shape 41"/>
          <p:cNvSpPr/>
          <p:nvPr/>
        </p:nvSpPr>
        <p:spPr>
          <a:xfrm>
            <a:off x="548640" y="5486400"/>
            <a:ext cx="3566160" cy="749808"/>
          </a:xfrm>
          <a:prstGeom prst="rect">
            <a:avLst/>
          </a:prstGeom>
          <a:solidFill>
            <a:srgbClr val="112744"/>
          </a:solidFill>
          <a:ln w="12700">
            <a:solidFill>
              <a:srgbClr val="FBBF24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4" name="Shape 42"/>
          <p:cNvSpPr/>
          <p:nvPr/>
        </p:nvSpPr>
        <p:spPr>
          <a:xfrm>
            <a:off x="548640" y="5486400"/>
            <a:ext cx="82296" cy="74980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5" name="Shape 43"/>
          <p:cNvSpPr/>
          <p:nvPr/>
        </p:nvSpPr>
        <p:spPr>
          <a:xfrm>
            <a:off x="713232" y="5632704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6" name="Text 44"/>
          <p:cNvSpPr/>
          <p:nvPr/>
        </p:nvSpPr>
        <p:spPr>
          <a:xfrm>
            <a:off x="713232" y="5632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325880" y="55686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 Becomes Highest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1325880" y="588873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Jumps to front of queue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389120" y="2121408"/>
            <a:ext cx="3566160" cy="749808"/>
          </a:xfrm>
          <a:prstGeom prst="rect">
            <a:avLst/>
          </a:prstGeom>
          <a:solidFill>
            <a:srgbClr val="112744"/>
          </a:solidFill>
          <a:ln w="12700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0" name="Shape 48"/>
          <p:cNvSpPr/>
          <p:nvPr/>
        </p:nvSpPr>
        <p:spPr>
          <a:xfrm>
            <a:off x="4389120" y="2121408"/>
            <a:ext cx="82296" cy="74980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1" name="Shape 49"/>
          <p:cNvSpPr/>
          <p:nvPr/>
        </p:nvSpPr>
        <p:spPr>
          <a:xfrm>
            <a:off x="4553712" y="2267712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2" name="Text 50"/>
          <p:cNvSpPr/>
          <p:nvPr/>
        </p:nvSpPr>
        <p:spPr>
          <a:xfrm>
            <a:off x="4553712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166360" y="22037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 Allocation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5166360" y="25237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· doctor · equipment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172200" y="2889504"/>
            <a:ext cx="0" cy="54864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56" name="Shape 54"/>
          <p:cNvSpPr/>
          <p:nvPr/>
        </p:nvSpPr>
        <p:spPr>
          <a:xfrm>
            <a:off x="4389120" y="2962656"/>
            <a:ext cx="3566160" cy="749808"/>
          </a:xfrm>
          <a:prstGeom prst="rect">
            <a:avLst/>
          </a:prstGeom>
          <a:solidFill>
            <a:srgbClr val="112744"/>
          </a:solidFill>
          <a:ln w="12700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7" name="Shape 55"/>
          <p:cNvSpPr/>
          <p:nvPr/>
        </p:nvSpPr>
        <p:spPr>
          <a:xfrm>
            <a:off x="4389120" y="2962656"/>
            <a:ext cx="82296" cy="74980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8" name="Shape 56"/>
          <p:cNvSpPr/>
          <p:nvPr/>
        </p:nvSpPr>
        <p:spPr>
          <a:xfrm>
            <a:off x="4553712" y="310896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9" name="Text 57"/>
          <p:cNvSpPr/>
          <p:nvPr/>
        </p:nvSpPr>
        <p:spPr>
          <a:xfrm>
            <a:off x="4553712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166360" y="30449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5166360" y="33649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sent immediately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172200" y="3730752"/>
            <a:ext cx="0" cy="54864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63" name="Shape 61"/>
          <p:cNvSpPr/>
          <p:nvPr/>
        </p:nvSpPr>
        <p:spPr>
          <a:xfrm>
            <a:off x="4389120" y="3803904"/>
            <a:ext cx="3566160" cy="749808"/>
          </a:xfrm>
          <a:prstGeom prst="rect">
            <a:avLst/>
          </a:prstGeom>
          <a:solidFill>
            <a:srgbClr val="112744"/>
          </a:solidFill>
          <a:ln w="12700">
            <a:solidFill>
              <a:srgbClr val="38BDF8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4" name="Shape 62"/>
          <p:cNvSpPr/>
          <p:nvPr/>
        </p:nvSpPr>
        <p:spPr>
          <a:xfrm>
            <a:off x="4389120" y="3803904"/>
            <a:ext cx="82296" cy="74980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5" name="Shape 63"/>
          <p:cNvSpPr/>
          <p:nvPr/>
        </p:nvSpPr>
        <p:spPr>
          <a:xfrm>
            <a:off x="4553712" y="3950208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6" name="Text 64"/>
          <p:cNvSpPr/>
          <p:nvPr/>
        </p:nvSpPr>
        <p:spPr>
          <a:xfrm>
            <a:off x="4553712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166360" y="38862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Treatment</a:t>
            </a:r>
            <a:endParaRPr lang="en-US" sz="1250" dirty="0"/>
          </a:p>
        </p:txBody>
      </p:sp>
      <p:sp>
        <p:nvSpPr>
          <p:cNvPr id="68" name="Text 66"/>
          <p:cNvSpPr/>
          <p:nvPr/>
        </p:nvSpPr>
        <p:spPr>
          <a:xfrm>
            <a:off x="5166360" y="42062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care delivered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172200" y="4572000"/>
            <a:ext cx="0" cy="54864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70" name="Shape 68"/>
          <p:cNvSpPr/>
          <p:nvPr/>
        </p:nvSpPr>
        <p:spPr>
          <a:xfrm>
            <a:off x="4389120" y="4645152"/>
            <a:ext cx="3566160" cy="749808"/>
          </a:xfrm>
          <a:prstGeom prst="rect">
            <a:avLst/>
          </a:prstGeom>
          <a:solidFill>
            <a:srgbClr val="112744"/>
          </a:solidFill>
          <a:ln w="12700">
            <a:solidFill>
              <a:srgbClr val="22C55E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1" name="Shape 69"/>
          <p:cNvSpPr/>
          <p:nvPr/>
        </p:nvSpPr>
        <p:spPr>
          <a:xfrm>
            <a:off x="4389120" y="4645152"/>
            <a:ext cx="82296" cy="74980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2" name="Shape 70"/>
          <p:cNvSpPr/>
          <p:nvPr/>
        </p:nvSpPr>
        <p:spPr>
          <a:xfrm>
            <a:off x="4553712" y="4791456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071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3" name="Text 71"/>
          <p:cNvSpPr/>
          <p:nvPr/>
        </p:nvSpPr>
        <p:spPr>
          <a:xfrm>
            <a:off x="4553712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5166360" y="47274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</a:t>
            </a:r>
            <a:endParaRPr lang="en-US" sz="1250" dirty="0"/>
          </a:p>
        </p:txBody>
      </p:sp>
      <p:sp>
        <p:nvSpPr>
          <p:cNvPr id="75" name="Text 73"/>
          <p:cNvSpPr/>
          <p:nvPr/>
        </p:nvSpPr>
        <p:spPr>
          <a:xfrm>
            <a:off x="5166360" y="50474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returned to pool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8275320" y="2121408"/>
            <a:ext cx="3337560" cy="4206240"/>
          </a:xfrm>
          <a:prstGeom prst="rect">
            <a:avLst/>
          </a:prstGeom>
          <a:solidFill>
            <a:srgbClr val="0B1F3D"/>
          </a:solidFill>
          <a:ln w="15875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7" name="Text 75"/>
          <p:cNvSpPr/>
          <p:nvPr/>
        </p:nvSpPr>
        <p:spPr>
          <a:xfrm>
            <a:off x="8275320" y="224942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ESCALATION PATH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8732520" y="2788920"/>
            <a:ext cx="2423160" cy="749808"/>
          </a:xfrm>
          <a:prstGeom prst="rect">
            <a:avLst/>
          </a:prstGeom>
          <a:solidFill>
            <a:srgbClr val="112744"/>
          </a:solidFill>
          <a:ln w="22225">
            <a:solidFill>
              <a:srgbClr val="9FB3C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9" name="Text 77"/>
          <p:cNvSpPr/>
          <p:nvPr/>
        </p:nvSpPr>
        <p:spPr>
          <a:xfrm>
            <a:off x="8732520" y="278892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</a:t>
            </a:r>
            <a:endParaRPr lang="en-US" sz="1700" dirty="0"/>
          </a:p>
        </p:txBody>
      </p:sp>
      <p:sp>
        <p:nvSpPr>
          <p:cNvPr id="80" name="Shape 78"/>
          <p:cNvSpPr/>
          <p:nvPr/>
        </p:nvSpPr>
        <p:spPr>
          <a:xfrm>
            <a:off x="9944100" y="3584448"/>
            <a:ext cx="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81" name="Shape 79"/>
          <p:cNvSpPr/>
          <p:nvPr/>
        </p:nvSpPr>
        <p:spPr>
          <a:xfrm>
            <a:off x="8732520" y="4096512"/>
            <a:ext cx="2423160" cy="749808"/>
          </a:xfrm>
          <a:prstGeom prst="rect">
            <a:avLst/>
          </a:prstGeom>
          <a:solidFill>
            <a:srgbClr val="112744"/>
          </a:solidFill>
          <a:ln w="2222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2" name="Text 80"/>
          <p:cNvSpPr/>
          <p:nvPr/>
        </p:nvSpPr>
        <p:spPr>
          <a:xfrm>
            <a:off x="8732520" y="4096512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</a:t>
            </a:r>
            <a:endParaRPr lang="en-US" sz="1700" dirty="0"/>
          </a:p>
        </p:txBody>
      </p:sp>
      <p:sp>
        <p:nvSpPr>
          <p:cNvPr id="83" name="Shape 81"/>
          <p:cNvSpPr/>
          <p:nvPr/>
        </p:nvSpPr>
        <p:spPr>
          <a:xfrm>
            <a:off x="9944100" y="4892040"/>
            <a:ext cx="0" cy="45720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84" name="Shape 82"/>
          <p:cNvSpPr/>
          <p:nvPr/>
        </p:nvSpPr>
        <p:spPr>
          <a:xfrm>
            <a:off x="8732520" y="5394960"/>
            <a:ext cx="2423160" cy="749808"/>
          </a:xfrm>
          <a:prstGeom prst="rect">
            <a:avLst/>
          </a:prstGeom>
          <a:solidFill>
            <a:srgbClr val="112744"/>
          </a:solidFill>
          <a:ln w="222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5" name="Text 83"/>
          <p:cNvSpPr/>
          <p:nvPr/>
        </p:nvSpPr>
        <p:spPr>
          <a:xfrm>
            <a:off x="8732520" y="539496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1700" dirty="0"/>
          </a:p>
        </p:txBody>
      </p:sp>
      <p:sp>
        <p:nvSpPr>
          <p:cNvPr id="86" name="Text 8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Verilog FSM · Nexys FPGA · Patient Dispatch Controller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10881360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5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953</Words>
  <Application>Microsoft Office PowerPoint</Application>
  <PresentationFormat>Widescreen</PresentationFormat>
  <Paragraphs>340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Engr. D. Chimezie</dc:creator>
  <cp:lastModifiedBy>Engr. D. Chimezie</cp:lastModifiedBy>
  <cp:revision>1</cp:revision>
  <dcterms:created xsi:type="dcterms:W3CDTF">2026-06-23T13:30:43Z</dcterms:created>
  <dcterms:modified xsi:type="dcterms:W3CDTF">2026-06-23T13:53:11Z</dcterms:modified>
</cp:coreProperties>
</file>